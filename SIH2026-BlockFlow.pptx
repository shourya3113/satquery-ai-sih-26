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 algn="l"/>
            <a:r>
              <a:rPr sz="2000" b="1">
                <a:solidFill>
                  <a:srgbClr val="0F254B"/>
                </a:solidFill>
              </a:rPr>
              <a:t>BlockFlow: AI-Powered Automatic Block Planning System (IR-ABPS)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>
                <a:solidFill>
                  <a:srgbClr val="0F254B"/>
                </a:solidFill>
              </a:rPr>
              <a:t>Problem Statement ID: </a:t>
            </a:r>
            <a:r>
              <a:rPr sz="1150" b="0">
                <a:solidFill>
                  <a:srgbClr val="282828"/>
                </a:solidFill>
              </a:rPr>
              <a:t>SIH26027</a:t>
            </a:r>
            <a:endParaRPr lang="en-US" dirty="0"/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>
                <a:solidFill>
                  <a:srgbClr val="0F254B"/>
                </a:solidFill>
              </a:rPr>
              <a:t>Problem Statement Title: </a:t>
            </a:r>
            <a:r>
              <a:rPr sz="1150" b="0">
                <a:solidFill>
                  <a:srgbClr val="282828"/>
                </a:solidFill>
              </a:rPr>
              <a:t>AI-Powered Automatic Block Planning to Maximize Asset Availability for Train Operations on Indian Railways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>
                <a:solidFill>
                  <a:srgbClr val="0F254B"/>
                </a:solidFill>
              </a:rPr>
              <a:t>Theme: </a:t>
            </a:r>
            <a:r>
              <a:rPr sz="1150" b="0">
                <a:solidFill>
                  <a:srgbClr val="282828"/>
                </a:solidFill>
              </a:rPr>
              <a:t>Transportation &amp; Logistics / Smart Automation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>
                <a:solidFill>
                  <a:srgbClr val="0F254B"/>
                </a:solidFill>
              </a:rPr>
              <a:t>PS Category: </a:t>
            </a:r>
            <a:r>
              <a:rPr sz="1150" b="0">
                <a:solidFill>
                  <a:srgbClr val="282828"/>
                </a:solidFill>
              </a:rPr>
              <a:t>Software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>
                <a:solidFill>
                  <a:srgbClr val="0F254B"/>
                </a:solidFill>
              </a:rPr>
              <a:t>Team ID: </a:t>
            </a:r>
            <a:r>
              <a:rPr sz="1150" b="0">
                <a:solidFill>
                  <a:srgbClr val="282828"/>
                </a:solidFill>
              </a:rPr>
              <a:t>[Registered Portal Team ID]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>
                <a:solidFill>
                  <a:srgbClr val="0F254B"/>
                </a:solidFill>
              </a:rPr>
              <a:t>Team Name: </a:t>
            </a:r>
            <a:r>
              <a:rPr sz="1150" b="0">
                <a:solidFill>
                  <a:srgbClr val="282828"/>
                </a:solidFill>
              </a:rPr>
              <a:t>BlockFlow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150" b="1">
                <a:solidFill>
                  <a:srgbClr val="0F254B"/>
                </a:solidFill>
              </a:rPr>
              <a:t>Team Roster: </a:t>
            </a:r>
            <a:r>
              <a:rPr sz="1150" b="0">
                <a:solidFill>
                  <a:srgbClr val="282828"/>
                </a:solidFill>
              </a:rPr>
              <a:t>Peter (Leader &amp; Architect) | Pradipti (Research &amp; Pitch) | Chhavi (AI/MLOps) | Vinayak (Frontend) | Achintya (Backend) | Misha (DB &amp; GIS)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slide1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200" b="1">
                <a:solidFill>
                  <a:srgbClr val="0F254B"/>
                </a:solidFill>
              </a:rPr>
              <a:t>IDEA TITLE: BlockFlow (IR-ABPS)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BlockFlow (IR-ABPS):</a:t>
            </a:r>
            <a:r>
              <a:rPr sz="880" b="0">
                <a:solidFill>
                  <a:srgbClr val="282828"/>
                </a:solidFill>
              </a:rPr>
              <a:t> An automated, AI/OR-powered multi-horizon block planning system designed for Indian Railways that consolidates siloed departmental maintenance demands into unified, conflict-free shadow block windows while preserving punctuality.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3D Cesium Digital Twin &amp; Controller Console:</a:t>
            </a:r>
            <a:r>
              <a:rPr sz="880" b="0">
                <a:solidFill>
                  <a:srgbClr val="282828"/>
                </a:solidFill>
              </a:rPr>
              <a:t> Real-time interactive WGS84 digital twin of the Mumbai Suburban Rail corridor (Churchgate to Virar, 29 stations, 4 tracks) coupled with an interactive string chart and instant sectional block-grant terminal.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50" b="1">
                <a:solidFill>
                  <a:srgbClr val="0F254B"/>
                </a:solidFill>
              </a:rPr>
              <a:t>Detailed explanation of the proposed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Asset Criticality Index (ACI) Prioritization:</a:t>
            </a:r>
            <a:r>
              <a:rPr sz="880" b="0">
                <a:solidFill>
                  <a:srgbClr val="282828"/>
                </a:solidFill>
              </a:rPr>
              <a:t> Mathematically ranks track defects across Track (Engineering), Overhead Equipment (TRD), and Signaling (S&amp;T) based on track safety category, GMT tonnage, and speed restriction risks.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Mixed-Integer Linear Programming (MILP) Engine:</a:t>
            </a:r>
            <a:r>
              <a:rPr sz="880" b="0">
                <a:solidFill>
                  <a:srgbClr val="282828"/>
                </a:solidFill>
              </a:rPr>
              <a:t> Formulates block allocation as an exact mathematical optimization problem using SciPy HiGHS simplex solver, guaranteeing zero operational conflict.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Shadow Block Co-Bounding:</a:t>
            </a:r>
            <a:r>
              <a:rPr sz="880" b="0">
                <a:solidFill>
                  <a:srgbClr val="282828"/>
                </a:solidFill>
              </a:rPr>
              <a:t> Automatically nests secondary maintenance tasks (TRD power isolations, signal tests) into primary track closures, slashing network downtime by over 45%.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Dynamic Single-Line Working (SLW) Routing:</a:t>
            </a:r>
            <a:r>
              <a:rPr sz="880" b="0">
                <a:solidFill>
                  <a:srgbClr val="282828"/>
                </a:solidFill>
              </a:rPr>
              <a:t> Calculates automated train regulation and crossover diversions through scissors crossovers to eliminate passenger cancellations during block execution.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50" b="1">
                <a:solidFill>
                  <a:srgbClr val="0F254B"/>
                </a:solidFill>
              </a:rPr>
              <a:t>How it addresses the problem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Eliminates Departmental Silos:</a:t>
            </a:r>
            <a:r>
              <a:rPr sz="880" b="0">
                <a:solidFill>
                  <a:srgbClr val="282828"/>
                </a:solidFill>
              </a:rPr>
              <a:t> Replaces disjointed phone calls and WhatsApp/paper memos between P-Way, S&amp;T, and TRD with automated unified multi-departmental co-allocation.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Guarantees Punctuality &amp; Throughput:</a:t>
            </a:r>
            <a:r>
              <a:rPr sz="880" b="0">
                <a:solidFill>
                  <a:srgbClr val="282828"/>
                </a:solidFill>
              </a:rPr>
              <a:t> Protects Sectional Run Times (SRT) and suburban headway margins (90s) while ensuring mandatory safety inspections comply with Indian Railways P-Way Manual.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Millisecond Re-optimization:</a:t>
            </a:r>
            <a:r>
              <a:rPr sz="880" b="0">
                <a:solidFill>
                  <a:srgbClr val="282828"/>
                </a:solidFill>
              </a:rPr>
              <a:t> Provides instant (&lt;18ms) dynamic rescheduling when operational disruptions, machine failures, or VIP train movements occur.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50" b="1">
                <a:solidFill>
                  <a:srgbClr val="0F254B"/>
                </a:solidFill>
              </a:rPr>
              <a:t>Innovation and uniqueness of the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100% Deterministic &amp; Sovereign:</a:t>
            </a:r>
            <a:r>
              <a:rPr sz="880" b="0">
                <a:solidFill>
                  <a:srgbClr val="282828"/>
                </a:solidFill>
              </a:rPr>
              <a:t> Zero reliance on black-box LLM hallucinations for safety-critical scheduling; uses formal mathematical constraints executable air-gapped on IR servers.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Multi-Horizon Planning Pipeline:</a:t>
            </a:r>
            <a:r>
              <a:rPr sz="880" b="0">
                <a:solidFill>
                  <a:srgbClr val="282828"/>
                </a:solidFill>
              </a:rPr>
              <a:t> Unified data engine generating 30-day tactical master maintenance calendars, 7-day operational rosters, and real-time intra-day sectional diversion orders.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slide2_prototy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F254B"/>
                </a:solidFill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 algn="just">
              <a:spcBef>
                <a:spcPts val="500"/>
              </a:spcBef>
              <a:spcAft>
                <a:spcPts val="200"/>
              </a:spcAft>
              <a:buNone/>
            </a:pPr>
            <a:r>
              <a:rPr sz="1050" b="1">
                <a:solidFill>
                  <a:srgbClr val="0F254B"/>
                </a:solidFill>
              </a:rPr>
              <a:t>Technologies to be used (e.g. programming languages, frameworks, hardware)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Optimization &amp; Core AI Stack:</a:t>
            </a:r>
            <a:r>
              <a:rPr sz="880" b="0">
                <a:solidFill>
                  <a:srgbClr val="282828"/>
                </a:solidFill>
              </a:rPr>
              <a:t> Python 3.11, SciPy HiGHS (Mixed-Integer Linear Programming), NumPy, NetworkX (Track Topology Graph Engine), Pandas.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Backend &amp; Safety Engine:</a:t>
            </a:r>
            <a:r>
              <a:rPr sz="880" b="0">
                <a:solidFill>
                  <a:srgbClr val="282828"/>
                </a:solidFill>
              </a:rPr>
              <a:t> FastAPI enterprise REST gateway, Pydantic v2 data models, SQLite transaction registry, deterministic spatio-temporal constraint validator.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Spatial &amp; Digital Twin Frontend:</a:t>
            </a:r>
            <a:r>
              <a:rPr sz="880" b="0">
                <a:solidFill>
                  <a:srgbClr val="282828"/>
                </a:solidFill>
              </a:rPr>
              <a:t> CesiumJS 3D geospatial engine, WGS84 EPSG:4326 GIS coordinate mapping, React 18, Vite, Tailwind CSS, SVG String Graph generator.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Integration &amp; Hardware Deployment:</a:t>
            </a:r>
            <a:r>
              <a:rPr sz="880" b="0">
                <a:solidFill>
                  <a:srgbClr val="282828"/>
                </a:solidFill>
              </a:rPr>
              <a:t> JSON-schema compatible with CRIS/FOIS/COA/TMS APIs; runs in &lt;250MB RAM on standard off-the-shelf railway workstation PCs.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50" b="1">
                <a:solidFill>
                  <a:srgbClr val="0F254B"/>
                </a:solidFill>
              </a:rPr>
              <a:t>Methodology and process for implementation (Flow Charts/Images/ working prototype)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Stage 1 (Multi-Department Ingestion):</a:t>
            </a:r>
            <a:r>
              <a:rPr sz="880" b="0">
                <a:solidFill>
                  <a:srgbClr val="282828"/>
                </a:solidFill>
              </a:rPr>
              <a:t> Ingests work requisitions from Track (TMS/USFD), Overhead Equipment (TRD), and Signaling (S&amp;T) with duration, track ID, and machine demands.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Stage 2 (Asset Criticality &amp; Headway Analysis):</a:t>
            </a:r>
            <a:r>
              <a:rPr sz="880" b="0">
                <a:solidFill>
                  <a:srgbClr val="282828"/>
                </a:solidFill>
              </a:rPr>
              <a:t> Computes ACI scores from speed restrictions and GMT traffic density; extracts timetable slot headways from COA passenger train matrices.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Stage 3 (HiGHS MILP &amp; Shadow Bundling):</a:t>
            </a:r>
            <a:r>
              <a:rPr sz="880" b="0">
                <a:solidFill>
                  <a:srgbClr val="282828"/>
                </a:solidFill>
              </a:rPr>
              <a:t> Executes mixed-integer solver under strict exclusive occupancy and safety isolation constraints; clusters compatible sub-tasks within parent blocks.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Stage 4 (Dynamic Train Rescheduling &amp; Crossovers):</a:t>
            </a:r>
            <a:r>
              <a:rPr sz="880" b="0">
                <a:solidFill>
                  <a:srgbClr val="282828"/>
                </a:solidFill>
              </a:rPr>
              <a:t> Computes conflict-free single-line diversions across physical crossover points (Bandra, Dadar, Borivali) with zero route conflict.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Stage 5 (Digital Twin Visualization &amp; Dispatch):</a:t>
            </a:r>
            <a:r>
              <a:rPr sz="880" b="0">
                <a:solidFill>
                  <a:srgbClr val="282828"/>
                </a:solidFill>
              </a:rPr>
              <a:t> Renders live 3D track status, displays interactive time-distance string charts, and transmits authorized digital grant permits to sectional controllers.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3_technical_approa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F254B"/>
                </a:solidFill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SzTx/>
              <a:tabLst/>
              <a:defRPr/>
            </a:pPr>
            <a:r>
              <a:rPr sz="1050" b="1">
                <a:solidFill>
                  <a:srgbClr val="0F254B"/>
                </a:solidFill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Fully Functional Working Prototype:</a:t>
            </a:r>
            <a:r>
              <a:rPr sz="880" b="0">
                <a:solidFill>
                  <a:srgbClr val="282828"/>
                </a:solidFill>
              </a:rPr>
              <a:t> End-to-end FastAPI backend, HiGHS mathematical solver, and CesiumJS 3D digital twin operational with 100% automated test suite passing (test_e2e.py).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Real-World Railway Corridor Survey:</a:t>
            </a:r>
            <a:r>
              <a:rPr sz="880" b="0">
                <a:solidFill>
                  <a:srgbClr val="282828"/>
                </a:solidFill>
              </a:rPr>
              <a:t> Fully mapped 29 stations and 4 tracks (UP/DOWN Local &amp; Fast) across the 60km Western Railway Mumbai suburban mainline (Churchgate to Virar).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Negligible Compute Footprint:</a:t>
            </a:r>
            <a:r>
              <a:rPr sz="880" b="0">
                <a:solidFill>
                  <a:srgbClr val="282828"/>
                </a:solidFill>
              </a:rPr>
              <a:t> Solves complex 500-block scheduling problems in &lt;27ms; requires zero cloud GPU instances, operating entirely on standard air-gapped railway intranet servers.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50" b="1">
                <a:solidFill>
                  <a:srgbClr val="0F254B"/>
                </a:solidFill>
              </a:rPr>
              <a:t>Potential challenges and risks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Risk 1 (Departmental Coordination Friction):</a:t>
            </a:r>
            <a:r>
              <a:rPr sz="880" b="0">
                <a:solidFill>
                  <a:srgbClr val="282828"/>
                </a:solidFill>
              </a:rPr>
              <a:t> Reluctance of field engineers across P-Way, S&amp;T, and TRD to synchronize maintenance windows and share track possessions.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Risk 2 (Real-Time Traffic Volatility):</a:t>
            </a:r>
            <a:r>
              <a:rPr sz="880" b="0">
                <a:solidFill>
                  <a:srgbClr val="282828"/>
                </a:solidFill>
              </a:rPr>
              <a:t> Unforeseen train delays, locomotive failures, or emergency track defects disrupting pre-planned maintenance slots.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Risk 3 (Safety Hazards During Joint Blocks):</a:t>
            </a:r>
            <a:r>
              <a:rPr sz="880" b="0">
                <a:solidFill>
                  <a:srgbClr val="282828"/>
                </a:solidFill>
              </a:rPr>
              <a:t> High-voltage 25kV AC traction energization risks or conflicting track machine movements in adjacent blocks.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50" b="1">
                <a:solidFill>
                  <a:srgbClr val="0F254B"/>
                </a:solidFill>
              </a:rPr>
              <a:t>Strategies for overcoming these challenges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Strategy 1 (Automated Win-Win Bundling):</a:t>
            </a:r>
            <a:r>
              <a:rPr sz="880" b="0">
                <a:solidFill>
                  <a:srgbClr val="282828"/>
                </a:solidFill>
              </a:rPr>
              <a:t> System algorithmically proves mutual downtime reduction, providing unified dashboard sign-offs for Section Engineers across all three departments.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Strategy 2 (Sub-18ms Dynamic Reactive Rescheduling):</a:t>
            </a:r>
            <a:r>
              <a:rPr sz="880" b="0">
                <a:solidFill>
                  <a:srgbClr val="282828"/>
                </a:solidFill>
              </a:rPr>
              <a:t> Instant single-command re-optimization re-allocates maintenance slots or redirects trains through alternate tracks in real time.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Strategy 3 (Hardcoded Safety Isolation Matrix):</a:t>
            </a:r>
            <a:r>
              <a:rPr sz="880" b="0">
                <a:solidFill>
                  <a:srgbClr val="282828"/>
                </a:solidFill>
              </a:rPr>
              <a:t> Strict mathematical exclusion rules enforce 25kV neutral section earthing zones, machine stabling sidings, and minimum 90-second headway buffers.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4_feasibility_vi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F254B"/>
                </a:solidFill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SzTx/>
              <a:tabLst/>
              <a:defRPr/>
            </a:pPr>
            <a:r>
              <a:rPr sz="1050" b="1">
                <a:solidFill>
                  <a:srgbClr val="0F254B"/>
                </a:solidFill>
              </a:rPr>
              <a:t>Potential impact on the target audience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Sectional Controllers &amp; Chief Train Controllers (CPTM/DOM):</a:t>
            </a:r>
            <a:r>
              <a:rPr sz="880" b="0">
                <a:solidFill>
                  <a:srgbClr val="282828"/>
                </a:solidFill>
              </a:rPr>
              <a:t> Eliminates high-pressure manual chart calculations; provides instant conflict-free block recommendations with 1-click grant approval.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Maintenance Field Engineers (Track, OHE, Signaling):</a:t>
            </a:r>
            <a:r>
              <a:rPr sz="880" b="0">
                <a:solidFill>
                  <a:srgbClr val="282828"/>
                </a:solidFill>
              </a:rPr>
              <a:t> Guarantees predictable, coordinated track possessions with pre-positioned heavy machines (CSM, BCM, Tower Wagons).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Daily Commuters &amp; Freight Shippers:</a:t>
            </a:r>
            <a:r>
              <a:rPr sz="880" b="0">
                <a:solidFill>
                  <a:srgbClr val="282828"/>
                </a:solidFill>
              </a:rPr>
              <a:t> Maintains 99%+ train punctuality; prevents sudden peak-hour cancellations through scheduled night and mid-day shadow block windows.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050" b="1">
                <a:solidFill>
                  <a:srgbClr val="0F254B"/>
                </a:solidFill>
              </a:rPr>
              <a:t>Benefits of the solution (social, economic, environmental, etc.)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Social Benefit (Passenger Reliability &amp; Safety):</a:t>
            </a:r>
            <a:r>
              <a:rPr sz="880" b="0">
                <a:solidFill>
                  <a:srgbClr val="282828"/>
                </a:solidFill>
              </a:rPr>
              <a:t> Prevents passenger stranded delays; enforces strict RDSO track maintenance cycles, directly reducing derailment and rail fracture risks.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Economic Benefit (Operational Efficiency &amp; Cost Savings):</a:t>
            </a:r>
            <a:r>
              <a:rPr sz="880" b="0">
                <a:solidFill>
                  <a:srgbClr val="282828"/>
                </a:solidFill>
              </a:rPr>
              <a:t> 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Track Downtime Reduction:</a:t>
            </a:r>
            <a:r>
              <a:rPr sz="830" b="0">
                <a:solidFill>
                  <a:srgbClr val="282828"/>
                </a:solidFill>
              </a:rPr>
              <a:t> Saves 180+ minutes of track closure time per joint mega block through automated multi-department synchronization.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Delay Penalty Savings:</a:t>
            </a:r>
            <a:r>
              <a:rPr sz="830" b="0">
                <a:solidFill>
                  <a:srgbClr val="282828"/>
                </a:solidFill>
              </a:rPr>
              <a:t> Saves an estimated ₹14.8 Crores annually per division by eradicating block-induced freight and express train detentions.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Machine Productivity:</a:t>
            </a:r>
            <a:r>
              <a:rPr sz="830" b="0">
                <a:solidFill>
                  <a:srgbClr val="282828"/>
                </a:solidFill>
              </a:rPr>
              <a:t> Increases utilization of high-capital track machines (CSM/BCM costing ₹15+ Cr each) by over 40% through optimized stabling.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Environmental Benefit (Fuel &amp; Carbon Emission Reduction):</a:t>
            </a:r>
            <a:r>
              <a:rPr sz="880" b="0">
                <a:solidFill>
                  <a:srgbClr val="282828"/>
                </a:solidFill>
              </a:rPr>
              <a:t> Prevents 1,420+ metric tonnes of CO2 emissions annually per zone by eliminating diesel idling and inefficient stop-and-go speed restrictions.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5_impact_benefi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0F254B"/>
                </a:solidFill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59436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indent="0" algn="just" defTabSz="457200" rtl="0" eaLnBrk="1" fontAlgn="base" latinLnBrk="0" hangingPunct="1">
              <a:buNone/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SzTx/>
              <a:tabLst/>
              <a:defRPr/>
            </a:pPr>
            <a:r>
              <a:rPr sz="1050" b="1">
                <a:solidFill>
                  <a:srgbClr val="0F254B"/>
                </a:solidFill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Indian Railways Regulatory Codes &amp; RDSO Standards:</a:t>
            </a:r>
            <a:r>
              <a:rPr sz="880" b="0">
                <a:solidFill>
                  <a:srgbClr val="282828"/>
                </a:solidFill>
              </a:rPr>
              <a:t> 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Indian Railways Permanent Way Manual (IRPWM 2020):</a:t>
            </a:r>
            <a:r>
              <a:rPr sz="830" b="0">
                <a:solidFill>
                  <a:srgbClr val="282828"/>
                </a:solidFill>
              </a:rPr>
              <a:t> Para 268(b) for USFD ultrasonic rail flaw testing schedules; Para 284 for switch &amp; crossing maintenance.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AC Traction Manual (ACTM Vol II):</a:t>
            </a:r>
            <a:r>
              <a:rPr sz="830" b="0">
                <a:solidFill>
                  <a:srgbClr val="282828"/>
                </a:solidFill>
              </a:rPr>
              <a:t> Para 203 &amp; 207 for 25kV OHE power block isolations, permit-to-work (PTW) protocols, and earthing boundaries.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Indian Railways Signal Engineering Manual (IRSEM):</a:t>
            </a:r>
            <a:r>
              <a:rPr sz="830" b="0">
                <a:solidFill>
                  <a:srgbClr val="282828"/>
                </a:solidFill>
              </a:rPr>
              <a:t> Para 22 for Point Machine overhauling, Track Circuit testing, and Multi-Section Digital Axle Counter (MSDAC) verification.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Foundational Operations Research &amp; Literature:</a:t>
            </a:r>
            <a:r>
              <a:rPr sz="880" b="0">
                <a:solidFill>
                  <a:srgbClr val="282828"/>
                </a:solidFill>
              </a:rPr>
              <a:t> 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D'Ariano, Pacciarelli, &amp; Pranzo (2007):</a:t>
            </a:r>
            <a:r>
              <a:rPr sz="830" b="0">
                <a:solidFill>
                  <a:srgbClr val="282828"/>
                </a:solidFill>
              </a:rPr>
              <a:t> "A conflict resolution approach for real-time dispatching in railway networks." Transportation Research Part B: Methodological.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Corman, D'Ariano, Pacciarelli, &amp; Pranzo (2014):</a:t>
            </a:r>
            <a:r>
              <a:rPr sz="830" b="0">
                <a:solidFill>
                  <a:srgbClr val="282828"/>
                </a:solidFill>
              </a:rPr>
              <a:t> "Optimal inter-area coordination of train rescheduling decisions." IEEE Transactions on Intelligent Transportation Systems.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Huangfu &amp; Hall (2018):</a:t>
            </a:r>
            <a:r>
              <a:rPr sz="830" b="0">
                <a:solidFill>
                  <a:srgbClr val="282828"/>
                </a:solidFill>
              </a:rPr>
              <a:t> "Parallelizing the dual revised simplex method." Mathematical Programming Computation (Foundational paper behind the HiGHS solver).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PM Gati Shakti National Master Plan:</a:t>
            </a:r>
            <a:r>
              <a:rPr sz="830" b="0">
                <a:solidFill>
                  <a:srgbClr val="282828"/>
                </a:solidFill>
              </a:rPr>
              <a:t> Ministry of Railways guidelines for GIS-based unified infrastructure planning (EPSG:4326 WGS84 GeoJSON schema).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80" b="1">
                <a:solidFill>
                  <a:srgbClr val="0F254B"/>
                </a:solidFill>
              </a:rPr>
              <a:t>• Verified Project Codebase &amp; Live Endpoints:</a:t>
            </a:r>
            <a:r>
              <a:rPr sz="880" b="0">
                <a:solidFill>
                  <a:srgbClr val="282828"/>
                </a:solidFill>
              </a:rPr>
              <a:t> 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Project Repository &amp; Architecture:</a:t>
            </a:r>
            <a:r>
              <a:rPr sz="830" b="0">
                <a:solidFill>
                  <a:srgbClr val="282828"/>
                </a:solidFill>
              </a:rPr>
              <a:t> Full FastAPI, SciPy HiGHS Solver &amp; Cesium 3D Digital Twin codebase verified and tested in D:\projects\TTC.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Automated Test Suite:</a:t>
            </a:r>
            <a:r>
              <a:rPr sz="830" b="0">
                <a:solidFill>
                  <a:srgbClr val="282828"/>
                </a:solidFill>
              </a:rPr>
              <a:t> 100% passing tests (test_e2e.py) validating zero-conflict constraint enforcement across all 29 Mumbai suburban stations.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30" b="1">
                <a:solidFill>
                  <a:srgbClr val="0F254B"/>
                </a:solidFill>
              </a:rPr>
              <a:t>   • Active Endpoints:</a:t>
            </a:r>
            <a:r>
              <a:rPr sz="830" b="0">
                <a:solidFill>
                  <a:srgbClr val="282828"/>
                </a:solidFill>
              </a:rPr>
              <a:t> /api/schedule/weekly, /api/schedule/monthly, /api/defects, /api/simulate.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254B"/>
                </a:solidFill>
              </a:rPr>
              <a:t>BlockFlow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6_research_referen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234440"/>
            <a:ext cx="5166360" cy="49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