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defRPr sz="2200" b="1">
                <a:solidFill>
                  <a:srgbClr val="0F254B"/>
                </a:solidFill>
              </a:defRPr>
            </a:pPr>
            <a:r>
              <a:t>SatQuery AI: Agentic Multimodal Remote Sensing Intelligence Platform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0F254B"/>
                </a:solidFill>
              </a:rPr>
              <a:t>Problem Statement ID: </a:t>
            </a:r>
            <a:r>
              <a:rPr b="0" sz="1300">
                <a:solidFill>
                  <a:srgbClr val="232323"/>
                </a:solidFill>
              </a:rPr>
              <a:t>SIH26167</a:t>
            </a:r>
            <a:endParaRPr lang="en-US" dirty="0"/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254B"/>
                </a:solidFill>
              </a:rPr>
              <a:t>Problem Statement Title: </a:t>
            </a:r>
            <a:r>
              <a:rPr b="0" sz="1300">
                <a:solidFill>
                  <a:srgbClr val="232323"/>
                </a:solidFill>
              </a:rPr>
              <a:t>Agentic Multimodal AI for Remote Sensing Analysis (ISRO / SAC)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254B"/>
                </a:solidFill>
              </a:rPr>
              <a:t>Theme: </a:t>
            </a:r>
            <a:r>
              <a:rPr b="0" sz="1300">
                <a:solidFill>
                  <a:srgbClr val="232323"/>
                </a:solidFill>
              </a:rPr>
              <a:t>Space Technology / Disaster Management &amp; Geospatial Intelligence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254B"/>
                </a:solidFill>
              </a:rPr>
              <a:t>PS Category: </a:t>
            </a:r>
            <a:r>
              <a:rPr b="0" sz="1300">
                <a:solidFill>
                  <a:srgbClr val="232323"/>
                </a:solidFill>
              </a:rPr>
              <a:t>Software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254B"/>
                </a:solidFill>
              </a:rPr>
              <a:t>Team ID: </a:t>
            </a:r>
            <a:r>
              <a:rPr b="0" sz="1300">
                <a:solidFill>
                  <a:srgbClr val="232323"/>
                </a:solidFill>
              </a:rPr>
              <a:t>[Registered Portal Team ID]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254B"/>
                </a:solidFill>
              </a:rPr>
              <a:t>Team Name: </a:t>
            </a:r>
            <a:r>
              <a:rPr b="0" sz="1300">
                <a:solidFill>
                  <a:srgbClr val="232323"/>
                </a:solidFill>
              </a:rPr>
              <a:t>SatQuery AI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F254B"/>
                </a:solidFill>
              </a:rPr>
              <a:t>Team Roster: </a:t>
            </a:r>
            <a:r>
              <a:rPr b="0" sz="1300">
                <a:solidFill>
                  <a:srgbClr val="232323"/>
                </a:solidFill>
              </a:rPr>
              <a:t>Peter (Leader &amp; Architect) | Pradipti (Research &amp; Pitch) | Chhavi (AI/MLOps) | Vinayak (Frontend) | Achintya (Backend) | Misha (DB &amp; GIS)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>
              <a:defRPr sz="2400" b="1">
                <a:solidFill>
                  <a:srgbClr val="0F254B"/>
                </a:solidFill>
              </a:defRPr>
            </a:pPr>
            <a:r>
              <a:t>IDEA TITLE: SatQuery AI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685800" y="1234440"/>
            <a:ext cx="1078992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5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b="1" sz="1200">
                <a:solidFill>
                  <a:srgbClr val="0F254B"/>
                </a:solidFill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sz="1000">
                <a:solidFill>
                  <a:srgbClr val="0F254B"/>
                </a:solidFill>
              </a:rPr>
              <a:t>- SatQuery AI:</a:t>
            </a:r>
            <a:r>
              <a:rPr b="0" sz="1000">
                <a:solidFill>
                  <a:srgbClr val="232323"/>
                </a:solidFill>
              </a:rPr>
              <a:t> An agentic, multimodal Earth Observation platform designed for ISRO / Space Applications Centre (SAC) converting natural language into verifiable geospatial intelligence across Optical (Cartosat-2S, Sentinel-2) and SAR (RISAT-1A, Sentinel-1) imagery.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sz="1000">
                <a:solidFill>
                  <a:srgbClr val="0F254B"/>
                </a:solidFill>
              </a:rPr>
              <a:t>- Interactive Web-GIS Application:</a:t>
            </a:r>
            <a:r>
              <a:rPr b="0" sz="1000">
                <a:solidFill>
                  <a:srgbClr val="232323"/>
                </a:solidFill>
              </a:rPr>
              <a:t> Features MapLibre GL dual-pane comparison swipe slider, dynamic GeoJSON vector polygon overlays, conversational AI chat drawer, and 1-click Intelligence Dossier PDF export.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0F254B"/>
                </a:solidFill>
              </a:rPr>
              <a:t>Detailed explanation of the proposed solution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sz="1000">
                <a:solidFill>
                  <a:srgbClr val="0F254B"/>
                </a:solidFill>
              </a:rPr>
              <a:t>- Deterministic Agentic Router (AgenticTaskRouter):</a:t>
            </a:r>
            <a:r>
              <a:rPr b="0" sz="1000">
                <a:solidFill>
                  <a:srgbClr val="232323"/>
                </a:solidFill>
              </a:rPr>
              <a:t> Dynamically classifies intent across 5 tasks (Single VQA, Captioning, SAM-2 Text Grounding, Bi-Temporal Change Detection, and Cross-Modal Optical-SAR Fusion) and validates spatial co-registration between image pairs.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sz="1000">
                <a:solidFill>
                  <a:srgbClr val="0F254B"/>
                </a:solidFill>
              </a:rPr>
              <a:t>- Cross-Modal Optical-SAR Fusion:</a:t>
            </a:r>
            <a:r>
              <a:rPr b="0" sz="1000">
                <a:solidFill>
                  <a:srgbClr val="232323"/>
                </a:solidFill>
              </a:rPr>
              <a:t> Combines cloud-blind optical spectral bands with cloud-penetrating SAR microwave roughness (sigma0 in dB) for 24/7 all-weather flood inundation and border monitoring.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sz="1000">
                <a:solidFill>
                  <a:srgbClr val="0F254B"/>
                </a:solidFill>
              </a:rPr>
              <a:t>- Zero Coordinate Hallucination:</a:t>
            </a:r>
            <a:r>
              <a:rPr b="0" sz="1000">
                <a:solidFill>
                  <a:srgbClr val="232323"/>
                </a:solidFill>
              </a:rPr>
              <a:t> Directly projects pixel masks via Affine Transformation Matrices into EPSG:4326 GeoJSON polygons with exact physical hectare calculations ([lon, lat]^T = Affine * [x, y, 1]^T).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0F254B"/>
                </a:solidFill>
              </a:rPr>
              <a:t>How it addresses the problem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sz="1000">
                <a:solidFill>
                  <a:srgbClr val="0F254B"/>
                </a:solidFill>
              </a:rPr>
              <a:t>- Solves Optical Cloud Blindspot:</a:t>
            </a:r>
            <a:r>
              <a:rPr b="0" sz="1000">
                <a:solidFill>
                  <a:srgbClr val="232323"/>
                </a:solidFill>
              </a:rPr>
              <a:t> Optical sensors are blind during monsoon cloud cover - precisely when flood and cyclone disaster intelligence is most urgent. SAR radar penetrates clouds to delineate standing water.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sz="1000">
                <a:solidFill>
                  <a:srgbClr val="0F254B"/>
                </a:solidFill>
              </a:rPr>
              <a:t>- Democratizes Complex GIS:</a:t>
            </a:r>
            <a:r>
              <a:rPr b="0" sz="1000">
                <a:solidFill>
                  <a:srgbClr val="232323"/>
                </a:solidFill>
              </a:rPr>
              <a:t> Replaces cumbersome manual GIS desktop software with conversational English for disaster field officers.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sz="1000">
                <a:solidFill>
                  <a:srgbClr val="0F254B"/>
                </a:solidFill>
              </a:rPr>
              <a:t>- 100% Observable Telemetry:</a:t>
            </a:r>
            <a:r>
              <a:rPr b="0" sz="1000">
                <a:solidFill>
                  <a:srgbClr val="232323"/>
                </a:solidFill>
              </a:rPr>
              <a:t> Replaces opaque black-box LLMs with verifiable JSON execution traces detailing tools, bounds, and latency.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0F254B"/>
                </a:solidFill>
              </a:rPr>
              <a:t>Innovation and uniqueness of the solution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sz="1000">
                <a:solidFill>
                  <a:srgbClr val="0F254B"/>
                </a:solidFill>
              </a:rPr>
              <a:t>- Sovereign Dual-Use Architecture:</a:t>
            </a:r>
            <a:r>
              <a:rPr b="0" sz="1000">
                <a:solidFill>
                  <a:srgbClr val="232323"/>
                </a:solidFill>
              </a:rPr>
              <a:t> Tailored for ISRO Bhuvan / MOSDAC / NDMA disaster response + commercial agritech PMFBY crop insurance verification and NHAI infrastructure auditing.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sz="1000">
                <a:solidFill>
                  <a:srgbClr val="0F254B"/>
                </a:solidFill>
              </a:rPr>
              <a:t>- Sub-2.5s Lightweight Inference:</a:t>
            </a:r>
            <a:r>
              <a:rPr b="0" sz="1000">
                <a:solidFill>
                  <a:srgbClr val="232323"/>
                </a:solidFill>
              </a:rPr>
              <a:t> 4-bit QLoRA fine-tuned Qwen2-VL-2B adapted for remote sensing, running in &lt;6GB VRAM on consumer hardware.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SatQuery AI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400" b="1">
                <a:solidFill>
                  <a:srgbClr val="0F254B"/>
                </a:solidFill>
              </a:defRPr>
            </a:pPr>
            <a: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85800" y="1234440"/>
            <a:ext cx="1078992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5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b="1" sz="1200">
                <a:solidFill>
                  <a:srgbClr val="0F254B"/>
                </a:solidFill>
              </a:rPr>
              <a:t>Technologies to be used (e.g. programming languages, frameworks, hardware)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sz="1000">
                <a:solidFill>
                  <a:srgbClr val="0F254B"/>
                </a:solidFill>
              </a:rPr>
              <a:t>- AI &amp; MLOps Stack:</a:t>
            </a:r>
            <a:r>
              <a:rPr b="0" sz="1000">
                <a:solidFill>
                  <a:srgbClr val="232323"/>
                </a:solidFill>
              </a:rPr>
              <a:t> Python 3.11, PyTorch 2.6, Qwen2-VL-2B (4-bit QLoRA), Grounding DINO + SAM-2 (Segment Anything Model 2), ChangeFormer-V2 cross-attention head, ONNX Runtime, GPUManager (dynamic CUDA VRAM management &amp; cache clearing).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sz="1000">
                <a:solidFill>
                  <a:srgbClr val="0F254B"/>
                </a:solidFill>
              </a:rPr>
              <a:t>- Geospatial &amp; Ingestion Engine:</a:t>
            </a:r>
            <a:r>
              <a:rPr b="0" sz="1000">
                <a:solidFill>
                  <a:srgbClr val="232323"/>
                </a:solidFill>
              </a:rPr>
              <a:t> Rasterio, GDAL, NumPy, SciPy (adaptive Lee speckle filter 5x5), Shapely, Affine transformation matrices.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sz="1000">
                <a:solidFill>
                  <a:srgbClr val="0F254B"/>
                </a:solidFill>
              </a:rPr>
              <a:t>- Backend &amp; Spatial Cache:</a:t>
            </a:r>
            <a:r>
              <a:rPr b="0" sz="1000">
                <a:solidFill>
                  <a:srgbClr val="232323"/>
                </a:solidFill>
              </a:rPr>
              <a:t> FastAPI REST Gateway, Pydantic v2 universal schemas, SQLite spatial cache (satquery_cache.db), ReportLab PDF engine.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sz="1000">
                <a:solidFill>
                  <a:srgbClr val="0F254B"/>
                </a:solidFill>
              </a:rPr>
              <a:t>- Web-GIS Frontend:</a:t>
            </a:r>
            <a:r>
              <a:rPr b="0" sz="1000">
                <a:solidFill>
                  <a:srgbClr val="232323"/>
                </a:solidFill>
              </a:rPr>
              <a:t> React 18, TypeScript, MapLibre GL interactive canvas, Dual-Pane Split Swipe Slider, Tailwind CSS.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0F254B"/>
                </a:solidFill>
              </a:rPr>
              <a:t>Methodology and process for implementation (Flow Charts/Images/ working prototype)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sz="1000">
                <a:solidFill>
                  <a:srgbClr val="0F254B"/>
                </a:solidFill>
              </a:rPr>
              <a:t>- Step 1 (Multi-Modal Ingestion):</a:t>
            </a:r>
            <a:r>
              <a:rPr b="0" sz="1000">
                <a:solidFill>
                  <a:srgbClr val="232323"/>
                </a:solidFill>
              </a:rPr>
              <a:t> Parses GeoTIFFs (Cartosat, RISAT, Sentinel) and benchmark PNGs; verifies CRS, GSD, and band layouts; converts SAR amplitude to calibrated backscatter sigma0 (dB).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sz="1000">
                <a:solidFill>
                  <a:srgbClr val="0F254B"/>
                </a:solidFill>
              </a:rPr>
              <a:t>- Step 2 (Agentic Task Orchestration):</a:t>
            </a:r>
            <a:r>
              <a:rPr b="0" sz="1000">
                <a:solidFill>
                  <a:srgbClr val="232323"/>
                </a:solidFill>
              </a:rPr>
              <a:t> AgenticTaskRouter parses natural language, determines task modality, verifies spatial co-registration between image footprints, and bounds parameters to strict ISRO guardrails (confidence, change threshold, filter kernel).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sz="1000">
                <a:solidFill>
                  <a:srgbClr val="0F254B"/>
                </a:solidFill>
              </a:rPr>
              <a:t>- Step 3 (Dynamic Specialist Tool Dispatch):</a:t>
            </a:r>
            <a:r>
              <a:rPr b="0" sz="1000">
                <a:solidFill>
                  <a:srgbClr val="232323"/>
                </a:solidFill>
              </a:rPr>
              <a:t> Routes to RS-VQA-Engine, SpatialGrounding-Engine, BiTemporalChange-Engine, or OpticalSARFusion-Engine with microsecond telemetry timing.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sz="1000">
                <a:solidFill>
                  <a:srgbClr val="0F254B"/>
                </a:solidFill>
              </a:rPr>
              <a:t>- Step 4 (Deterministic Affine Coordinate Projection):</a:t>
            </a:r>
            <a:r>
              <a:rPr b="0" sz="1000">
                <a:solidFill>
                  <a:srgbClr val="232323"/>
                </a:solidFill>
              </a:rPr>
              <a:t> Automatically projects binary prediction masks to Earth coordinates (EPSG:4326 GeoJSON polygons) and computes exact surface areas in hectares (ha).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sz="1000">
                <a:solidFill>
                  <a:srgbClr val="0F254B"/>
                </a:solidFill>
              </a:rPr>
              <a:t>- Step 5 (Verifiable Output &amp; Intelligence Dossier):</a:t>
            </a:r>
            <a:r>
              <a:rPr b="0" sz="1000">
                <a:solidFill>
                  <a:srgbClr val="232323"/>
                </a:solidFill>
              </a:rPr>
              <a:t> Emits observable JSON trace (AuditableExecutionTrace), renders interactive vector overlays, and compiles automated Intelligence Dossier PDF reports.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SatQuery AI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400" b="1">
                <a:solidFill>
                  <a:srgbClr val="0F254B"/>
                </a:solidFill>
              </a:defRPr>
            </a:pPr>
            <a: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85800" y="1234440"/>
            <a:ext cx="1078992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1" sz="1200">
                <a:solidFill>
                  <a:srgbClr val="0F254B"/>
                </a:solidFill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sz="1000">
                <a:solidFill>
                  <a:srgbClr val="0F254B"/>
                </a:solidFill>
              </a:rPr>
              <a:t>- End-to-End Working Prototype Validated:</a:t>
            </a:r>
            <a:r>
              <a:rPr b="0" sz="1000">
                <a:solidFill>
                  <a:srgbClr val="232323"/>
                </a:solidFill>
              </a:rPr>
              <a:t> 36/36 automated integration tests passing (100% pass rate) on GitHub repo (Shourya3113/SatQuery-AI-SIH-26) across API, Orchestration, Geospatial Affine, and SQLite Registry modules.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sz="1000">
                <a:solidFill>
                  <a:srgbClr val="0F254B"/>
                </a:solidFill>
              </a:rPr>
              <a:t>- Lean Hardware Footprint:</a:t>
            </a:r>
            <a:r>
              <a:rPr b="0" sz="1000">
                <a:solidFill>
                  <a:srgbClr val="232323"/>
                </a:solidFill>
              </a:rPr>
              <a:t> Modular specialist backends run within &lt;6GB VRAM (operates smoothly on standard developer laptops and free Google Colab T4 GPUs, eliminating the 16GB VRAM barrier).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sz="1000">
                <a:solidFill>
                  <a:srgbClr val="0F254B"/>
                </a:solidFill>
              </a:rPr>
              <a:t>- Sovereign &amp; Air-Gapped Compatibility:</a:t>
            </a:r>
            <a:r>
              <a:rPr b="0" sz="1000">
                <a:solidFill>
                  <a:srgbClr val="232323"/>
                </a:solidFill>
              </a:rPr>
              <a:t> Entire platform operates self-contained without external third-party proprietary APIs (OpenAI/Anthropic); ready for deployment on NIC MeghRaj or ISRO Bhuvan Cloud servers.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0F254B"/>
                </a:solidFill>
              </a:rPr>
              <a:t>Potential challenges and risks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sz="1000">
                <a:solidFill>
                  <a:srgbClr val="0F254B"/>
                </a:solidFill>
              </a:rPr>
              <a:t>- Risk 1 (Spatial Misalignment):</a:t>
            </a:r>
            <a:r>
              <a:rPr b="0" sz="1000">
                <a:solidFill>
                  <a:srgbClr val="232323"/>
                </a:solidFill>
              </a:rPr>
              <a:t> Geometric distortion or CRS mismatches between multi-temporal passes or different sensor modalities (Optical vs SAR).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sz="1000">
                <a:solidFill>
                  <a:srgbClr val="0F254B"/>
                </a:solidFill>
              </a:rPr>
              <a:t>- Risk 2 (SAR Speckle Noise):</a:t>
            </a:r>
            <a:r>
              <a:rPr b="0" sz="1000">
                <a:solidFill>
                  <a:srgbClr val="232323"/>
                </a:solidFill>
              </a:rPr>
              <a:t> Coherent radar interference creating false high-frequency edges and spurious change detections.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sz="1000">
                <a:solidFill>
                  <a:srgbClr val="0F254B"/>
                </a:solidFill>
              </a:rPr>
              <a:t>- Risk 3 (LLM Coordinate Hallucination):</a:t>
            </a:r>
            <a:r>
              <a:rPr b="0" sz="1000">
                <a:solidFill>
                  <a:srgbClr val="232323"/>
                </a:solidFill>
              </a:rPr>
              <a:t> General generative models outputting fictitious geographic coordinates and arbitrary polygon boundaries.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0F254B"/>
                </a:solidFill>
              </a:rPr>
              <a:t>Strategies for overcoming these challenges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sz="1000">
                <a:solidFill>
                  <a:srgbClr val="0F254B"/>
                </a:solidFill>
              </a:rPr>
              <a:t>- Strategy 1 (Automated Preprocessing Guardrail):</a:t>
            </a:r>
            <a:r>
              <a:rPr b="0" sz="1000">
                <a:solidFill>
                  <a:srgbClr val="232323"/>
                </a:solidFill>
              </a:rPr>
              <a:t> Ingestion pipeline verifies CRS (EPSG:32633, EPSG:4326), bounding box overlap, and spatial resolution prior to tool dispatch.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sz="1000">
                <a:solidFill>
                  <a:srgbClr val="0F254B"/>
                </a:solidFill>
              </a:rPr>
              <a:t>- Strategy 2 (Adaptive Lee Speckle Filtering):</a:t>
            </a:r>
            <a:r>
              <a:rPr b="0" sz="1000">
                <a:solidFill>
                  <a:srgbClr val="232323"/>
                </a:solidFill>
              </a:rPr>
              <a:t> Applied 5x5 window adaptive Lee filtering on calibrated SAR intensity to eliminate speckle noise while preserving sharp coastlines and urban edges.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sz="1000">
                <a:solidFill>
                  <a:srgbClr val="0F254B"/>
                </a:solidFill>
              </a:rPr>
              <a:t>- Strategy 3 (Affine Matrix Coordinate Projection):</a:t>
            </a:r>
            <a:r>
              <a:rPr b="0" sz="1000">
                <a:solidFill>
                  <a:srgbClr val="232323"/>
                </a:solidFill>
              </a:rPr>
              <a:t> Hardcoded affine coordinate math directly computes polygon vertices from raster transformations, making coordinate hallucination mathematically impossible.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SatQuery AI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400" b="1">
                <a:solidFill>
                  <a:srgbClr val="0F254B"/>
                </a:solidFill>
              </a:defRPr>
            </a:pPr>
            <a: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85800" y="1234440"/>
            <a:ext cx="1078992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1" sz="1200">
                <a:solidFill>
                  <a:srgbClr val="0F254B"/>
                </a:solidFill>
              </a:rPr>
              <a:t>Potential impact on the target audience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sz="1000">
                <a:solidFill>
                  <a:srgbClr val="0F254B"/>
                </a:solidFill>
              </a:rPr>
              <a:t>- ISRO / SAC &amp; National Disaster Management Authority (NDMA):</a:t>
            </a:r>
            <a:r>
              <a:rPr b="0" sz="1000">
                <a:solidFill>
                  <a:srgbClr val="232323"/>
                </a:solidFill>
              </a:rPr>
              <a:t> Instantaneous flood inundation and landslide mapping through dense clouds, cutting emergency damage assessment from days to &lt;3 seconds.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sz="1000">
                <a:solidFill>
                  <a:srgbClr val="0F254B"/>
                </a:solidFill>
              </a:rPr>
              <a:t>- Defense &amp; Border Security Organizations:</a:t>
            </a:r>
            <a:r>
              <a:rPr b="0" sz="1000">
                <a:solidFill>
                  <a:srgbClr val="232323"/>
                </a:solidFill>
              </a:rPr>
              <a:t> 24/7 all-weather structural change detection and vehicle/runway monitoring along borders without manual GIS registration.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sz="1000">
                <a:solidFill>
                  <a:srgbClr val="0F254B"/>
                </a:solidFill>
              </a:rPr>
              <a:t>- District Administration &amp; Relief Field Officers:</a:t>
            </a:r>
            <a:r>
              <a:rPr b="0" sz="1000">
                <a:solidFill>
                  <a:srgbClr val="232323"/>
                </a:solidFill>
              </a:rPr>
              <a:t> Conversational natural-language interface enables field commanders to query satellite data without specialized GIS training.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200">
                <a:solidFill>
                  <a:srgbClr val="0F254B"/>
                </a:solidFill>
              </a:rPr>
              <a:t>Benefits of the solution (social, economic, environmental, etc.)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sz="1000">
                <a:solidFill>
                  <a:srgbClr val="0F254B"/>
                </a:solidFill>
              </a:rPr>
              <a:t>- Social Benefit (Disaster Resilience):</a:t>
            </a:r>
            <a:r>
              <a:rPr b="0" sz="1000">
                <a:solidFill>
                  <a:srgbClr val="232323"/>
                </a:solidFill>
              </a:rPr>
              <a:t> Rapid, verified disaster mapping directly saves lives during monsoon floods, cyclones, and cloudburst events by directing first responders to isolated regions.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sz="1000">
                <a:solidFill>
                  <a:srgbClr val="0F254B"/>
                </a:solidFill>
              </a:rPr>
              <a:t>- Economic Benefit (Dual-Use Commercial Market):</a:t>
            </a:r>
            <a:r>
              <a:rPr b="0" sz="1000">
                <a:solidFill>
                  <a:srgbClr val="232323"/>
                </a:solidFill>
              </a:rPr>
              <a:t/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232323"/>
                </a:solidFill>
              </a:rPr>
              <a:t>   - Agritech &amp; Crop Insurance: Automates crop damage assessment for Pradhan Mantri Fasal Bima Yojana (PMFBY), preventing fraudulent claims and expediting payouts.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232323"/>
                </a:solidFill>
              </a:rPr>
              <a:t>   - Infrastructure Auditing: Dynamically monitors NHAI highway expansion, urban sprawl, and encroachments.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232323"/>
                </a:solidFill>
              </a:rPr>
              <a:t>   - Cost Reduction: Sovereign open-source stack eliminates expensive commercial GIS desktop licenses ($5,000+/seat).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sz="1000">
                <a:solidFill>
                  <a:srgbClr val="0F254B"/>
                </a:solidFill>
              </a:rPr>
              <a:t>- Environmental Benefit:</a:t>
            </a:r>
            <a:r>
              <a:rPr b="0" sz="1000">
                <a:solidFill>
                  <a:srgbClr val="232323"/>
                </a:solidFill>
              </a:rPr>
              <a:t> Continuous monitoring of deforestation, reservoir depletion, and wetland conservation through automated NDVI/NDWI indexing and directional change analysis.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SatQuery AI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400" b="1">
                <a:solidFill>
                  <a:srgbClr val="0F254B"/>
                </a:solidFill>
              </a:defRPr>
            </a:pPr>
            <a: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85800" y="1234440"/>
            <a:ext cx="1078992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b="1" sz="1200">
                <a:solidFill>
                  <a:srgbClr val="0F254B"/>
                </a:solidFill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sz="1000">
                <a:solidFill>
                  <a:srgbClr val="0F254B"/>
                </a:solidFill>
              </a:rPr>
              <a:t>- Benchmark Datasets &amp; Domain Adaptation:</a:t>
            </a:r>
            <a:r>
              <a:rPr b="0" sz="1000">
                <a:solidFill>
                  <a:srgbClr val="232323"/>
                </a:solidFill>
              </a:rPr>
              <a:t/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232323"/>
                </a:solidFill>
              </a:rPr>
              <a:t>   - BigEarthNet-MM: 590,326 Sentinel-1 SAR and Sentinel-2 Multispectral patch pairs used for cross-modal contrastive representation learning.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232323"/>
                </a:solidFill>
              </a:rPr>
              <a:t>   - VRSBench: High-resolution visual grounding, scene captioning, and remote sensing VQA benchmarks.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232323"/>
                </a:solidFill>
              </a:rPr>
              <a:t>   - RSVQA &amp; CDVQA: High/Low resolution VQA and Change Detection Visual Question Answering benchmarks.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232323"/>
                </a:solidFill>
              </a:rPr>
              <a:t>   - ISRO Sensor Calibration: Cartosat-2S (0.65m GSD pan-sharpened optical) &amp; RISAT-1A / EOS-04 (C-band SAR backscatter calibration).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sz="1000">
                <a:solidFill>
                  <a:srgbClr val="0F254B"/>
                </a:solidFill>
              </a:rPr>
              <a:t>- Foundational Literature &amp; Model Backbones:</a:t>
            </a:r>
            <a:r>
              <a:rPr b="0" sz="1000">
                <a:solidFill>
                  <a:srgbClr val="232323"/>
                </a:solidFill>
              </a:rPr>
              <a:t/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232323"/>
                </a:solidFill>
              </a:rPr>
              <a:t>   - Segment Anything Model 2 (SAM-2): Kirillov et al., Meta AI (2024) - Zero-shot promptable mask delineation.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232323"/>
                </a:solidFill>
              </a:rPr>
              <a:t>   - ChangeFormer-V2: Bandara &amp; Patel (2022) - Bitemporal Transformer for remote sensing change detection.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232323"/>
                </a:solidFill>
              </a:rPr>
              <a:t>   - Qwen2-VL: Wang et al., Alibaba Cloud (2024) - Vision-Language model with dynamic resolution processing.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b="1" sz="1000">
                <a:solidFill>
                  <a:srgbClr val="0F254B"/>
                </a:solidFill>
              </a:rPr>
              <a:t>- Project Repository &amp; Verified Codebase:</a:t>
            </a:r>
            <a:r>
              <a:rPr b="0" sz="1000">
                <a:solidFill>
                  <a:srgbClr val="232323"/>
                </a:solidFill>
              </a:rPr>
              <a:t/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232323"/>
                </a:solidFill>
              </a:rPr>
              <a:t>   - GitHub Repository: https://github.com/Shourya3113/SatQuery-AI-SIH-26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1000">
                <a:solidFill>
                  <a:srgbClr val="232323"/>
                </a:solidFill>
              </a:rPr>
              <a:t>   - Test Suite: 36/36 automated integration tests passing across REST API, Orchestrator, Affine Engine, and SQLite Registry.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SatQuery AI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