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 autoCompressPictures="0">
  <p:sldMasterIdLst>
    <p:sldMasterId id="2147483648" r:id="rId1"/>
  </p:sldMasterIdLst>
  <p:notesMasterIdLst>
    <p:notesMasterId r:id="rId9"/>
  </p:notesMasterIdLst>
  <p:sldIdLst>
    <p:sldId id="291" r:id="rId2"/>
    <p:sldId id="281" r:id="rId3"/>
    <p:sldId id="290" r:id="rId4"/>
    <p:sldId id="293" r:id="rId5"/>
    <p:sldId id="294" r:id="rId6"/>
    <p:sldId id="296" r:id="rId7"/>
  </p:sldIdLst>
  <p:sldSz cx="12192000" cy="6858000"/>
  <p:notesSz cx="6858000" cy="9144000"/>
  <p:defaultTextStyle>
    <a:defPPr>
      <a:defRPr lang="en-US"/>
    </a:defPPr>
    <a:lvl1pPr algn="l" defTabSz="457200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1pPr>
    <a:lvl2pPr marL="457200" algn="l" defTabSz="457200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2pPr>
    <a:lvl3pPr marL="914400" algn="l" defTabSz="457200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3pPr>
    <a:lvl4pPr marL="1371600" algn="l" defTabSz="457200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4pPr>
    <a:lvl5pPr marL="1828800" algn="l" defTabSz="457200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5pPr>
    <a:lvl6pPr marL="2286000" algn="l" defTabSz="914400" rtl="0" eaLnBrk="1" latinLnBrk="0" hangingPunct="1"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6pPr>
    <a:lvl7pPr marL="2743200" algn="l" defTabSz="914400" rtl="0" eaLnBrk="1" latinLnBrk="0" hangingPunct="1"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7pPr>
    <a:lvl8pPr marL="3200400" algn="l" defTabSz="914400" rtl="0" eaLnBrk="1" latinLnBrk="0" hangingPunct="1"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8pPr>
    <a:lvl9pPr marL="3657600" algn="l" defTabSz="914400" rtl="0" eaLnBrk="1" latinLnBrk="0" hangingPunct="1"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9BBB59"/>
    <a:srgbClr val="39B0D4"/>
    <a:srgbClr val="727272"/>
    <a:srgbClr val="010000"/>
    <a:srgbClr val="FFA751"/>
    <a:srgbClr val="323232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napToObjects="1">
      <p:cViewPr varScale="1">
        <p:scale>
          <a:sx n="68" d="100"/>
          <a:sy n="68" d="100"/>
        </p:scale>
        <p:origin x="792" y="72"/>
      </p:cViewPr>
      <p:guideLst>
        <p:guide orient="horz" pos="2160"/>
        <p:guide pos="3840"/>
      </p:guideLst>
    </p:cSldViewPr>
  </p:slideViewPr>
  <p:notesTextViewPr>
    <p:cViewPr>
      <p:scale>
        <a:sx n="100" d="100"/>
        <a:sy n="100" d="100"/>
      </p:scale>
      <p:origin x="0" y="0"/>
    </p:cViewPr>
  </p:notesTextViewPr>
  <p:sorterViewPr>
    <p:cViewPr>
      <p:scale>
        <a:sx n="125" d="100"/>
        <a:sy n="125" d="100"/>
      </p:scale>
      <p:origin x="0" y="0"/>
    </p:cViewPr>
  </p:sorter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9" Type="http://schemas.openxmlformats.org/officeDocument/2006/relationships/notesMaster" Target="notesMasters/notesMaster1.xml"/><Relationship Id="rId10" Type="http://schemas.openxmlformats.org/officeDocument/2006/relationships/presProps" Target="presProps.xml"/><Relationship Id="rId11" Type="http://schemas.openxmlformats.org/officeDocument/2006/relationships/viewProps" Target="viewProps.xml"/><Relationship Id="rId12" Type="http://schemas.openxmlformats.org/officeDocument/2006/relationships/theme" Target="theme/theme1.xml"/><Relationship Id="rId13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 fontAlgn="auto">
              <a:spcBef>
                <a:spcPts val="0"/>
              </a:spcBef>
              <a:spcAft>
                <a:spcPts val="0"/>
              </a:spcAft>
              <a:defRPr sz="1200">
                <a:latin typeface="+mn-lt"/>
                <a:ea typeface="+mn-ea"/>
                <a:cs typeface="+mn-cs"/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algn="r">
              <a:defRPr sz="1200"/>
            </a:lvl1pPr>
          </a:lstStyle>
          <a:p>
            <a:fld id="{C4D5ADD5-2BBC-4A94-8F86-D9013941F742}" type="datetimeFigureOut">
              <a:rPr lang="en-US"/>
              <a:pPr/>
              <a:t>6/2/2026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pPr lvl="0"/>
            <a:endParaRPr lang="en-US" noProof="0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noProof="0"/>
              <a:t>Click to 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 fontAlgn="auto">
              <a:spcBef>
                <a:spcPts val="0"/>
              </a:spcBef>
              <a:spcAft>
                <a:spcPts val="0"/>
              </a:spcAft>
              <a:defRPr sz="1200">
                <a:latin typeface="+mn-lt"/>
                <a:ea typeface="+mn-ea"/>
                <a:cs typeface="+mn-cs"/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>
            <a:lvl1pPr algn="r">
              <a:defRPr sz="1200"/>
            </a:lvl1pPr>
          </a:lstStyle>
          <a:p>
            <a:fld id="{EC790738-CFC9-4A5E-8424-6B42AA5706F7}" type="slidenum">
              <a:rPr lang="en-US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5749454"/>
      </p:ext>
    </p:extLst>
  </p:cSld>
  <p:clrMap bg1="lt1" tx1="dk1" bg2="lt2" tx2="dk2" accent1="accent1" accent2="accent2" accent3="accent3" accent4="accent4" accent5="accent5" accent6="accent6" hlink="hlink" folHlink="folHlink"/>
  <p:notesStyle>
    <a:lvl1pPr algn="l" defTabSz="457200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ＭＳ Ｐゴシック" charset="0"/>
        <a:cs typeface="ＭＳ Ｐゴシック" charset="0"/>
      </a:defRPr>
    </a:lvl1pPr>
    <a:lvl2pPr marL="457200" algn="l" defTabSz="457200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ＭＳ Ｐゴシック" charset="0"/>
        <a:cs typeface="+mn-cs"/>
      </a:defRPr>
    </a:lvl2pPr>
    <a:lvl3pPr marL="914400" algn="l" defTabSz="457200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ＭＳ Ｐゴシック" charset="0"/>
        <a:cs typeface="+mn-cs"/>
      </a:defRPr>
    </a:lvl3pPr>
    <a:lvl4pPr marL="1371600" algn="l" defTabSz="457200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ＭＳ Ｐゴシック" charset="0"/>
        <a:cs typeface="+mn-cs"/>
      </a:defRPr>
    </a:lvl4pPr>
    <a:lvl5pPr marL="1828800" algn="l" defTabSz="457200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ＭＳ Ｐゴシック" charset="0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385" name="Slide Image Placeholder 1"/>
          <p:cNvSpPr>
            <a:spLocks noGrp="1" noRot="1" noChangeAspect="1"/>
          </p:cNvSpPr>
          <p:nvPr>
            <p:ph type="sldImg"/>
          </p:nvPr>
        </p:nvSpPr>
        <p:spPr bwMode="auto">
          <a:xfrm>
            <a:off x="381000" y="685800"/>
            <a:ext cx="6096000" cy="3429000"/>
          </a:xfrm>
          <a:noFill/>
          <a:ln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16386" name="Notes Placeholder 2"/>
          <p:cNvSpPr>
            <a:spLocks noGrp="1"/>
          </p:cNvSpPr>
          <p:nvPr>
            <p:ph type="body" idx="1"/>
          </p:nvPr>
        </p:nvSpPr>
        <p:spPr bwMode="auto">
          <a:noFill/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spcBef>
                <a:spcPct val="0"/>
              </a:spcBef>
            </a:pPr>
            <a:endParaRPr lang="en-US">
              <a:ea typeface="ＭＳ Ｐゴシック" pitchFamily="1" charset="-128"/>
            </a:endParaRPr>
          </a:p>
        </p:txBody>
      </p:sp>
      <p:sp>
        <p:nvSpPr>
          <p:cNvPr id="16387" name="Slide Number Placeholder 3"/>
          <p:cNvSpPr>
            <a:spLocks noGrp="1"/>
          </p:cNvSpPr>
          <p:nvPr>
            <p:ph type="sldNum" sz="quarter" idx="5"/>
          </p:nvPr>
        </p:nvSpPr>
        <p:spPr bwMode="auto">
          <a:noFill/>
          <a:ln>
            <a:miter lim="800000"/>
            <a:headEnd/>
            <a:tailEnd/>
          </a:ln>
        </p:spPr>
        <p:txBody>
          <a:bodyPr/>
          <a:lstStyle/>
          <a:p>
            <a:fld id="{65F62A7E-A2F8-438F-9CF8-47DE63F471B4}" type="slidenum">
              <a:rPr lang="en-US"/>
              <a:pPr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04073229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3" name="Slide Image Placeholder 1"/>
          <p:cNvSpPr>
            <a:spLocks noGrp="1" noRot="1" noChangeAspect="1"/>
          </p:cNvSpPr>
          <p:nvPr>
            <p:ph type="sldImg"/>
          </p:nvPr>
        </p:nvSpPr>
        <p:spPr bwMode="auto">
          <a:xfrm>
            <a:off x="381000" y="685800"/>
            <a:ext cx="6096000" cy="3429000"/>
          </a:xfrm>
          <a:noFill/>
          <a:ln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18434" name="Notes Placeholder 2"/>
          <p:cNvSpPr>
            <a:spLocks noGrp="1"/>
          </p:cNvSpPr>
          <p:nvPr>
            <p:ph type="body" idx="1"/>
          </p:nvPr>
        </p:nvSpPr>
        <p:spPr bwMode="auto">
          <a:noFill/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spcBef>
                <a:spcPct val="0"/>
              </a:spcBef>
            </a:pPr>
            <a:endParaRPr lang="en-US">
              <a:ea typeface="ＭＳ Ｐゴシック" pitchFamily="1" charset="-128"/>
            </a:endParaRPr>
          </a:p>
        </p:txBody>
      </p:sp>
      <p:sp>
        <p:nvSpPr>
          <p:cNvPr id="18435" name="Slide Number Placeholder 3"/>
          <p:cNvSpPr>
            <a:spLocks noGrp="1"/>
          </p:cNvSpPr>
          <p:nvPr>
            <p:ph type="sldNum" sz="quarter" idx="5"/>
          </p:nvPr>
        </p:nvSpPr>
        <p:spPr bwMode="auto">
          <a:noFill/>
          <a:ln>
            <a:miter lim="800000"/>
            <a:headEnd/>
            <a:tailEnd/>
          </a:ln>
        </p:spPr>
        <p:txBody>
          <a:bodyPr/>
          <a:lstStyle/>
          <a:p>
            <a:fld id="{0CA7B74D-3791-4AC6-8451-F10DBCCCDD9A}" type="slidenum">
              <a:rPr lang="en-US"/>
              <a:pPr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35206292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3" name="Slide Image Placeholder 1"/>
          <p:cNvSpPr>
            <a:spLocks noGrp="1" noRot="1" noChangeAspect="1"/>
          </p:cNvSpPr>
          <p:nvPr>
            <p:ph type="sldImg"/>
          </p:nvPr>
        </p:nvSpPr>
        <p:spPr bwMode="auto">
          <a:xfrm>
            <a:off x="381000" y="685800"/>
            <a:ext cx="6096000" cy="3429000"/>
          </a:xfrm>
          <a:noFill/>
          <a:ln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18434" name="Notes Placeholder 2"/>
          <p:cNvSpPr>
            <a:spLocks noGrp="1"/>
          </p:cNvSpPr>
          <p:nvPr>
            <p:ph type="body" idx="1"/>
          </p:nvPr>
        </p:nvSpPr>
        <p:spPr bwMode="auto">
          <a:noFill/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spcBef>
                <a:spcPct val="0"/>
              </a:spcBef>
            </a:pPr>
            <a:endParaRPr lang="en-US">
              <a:ea typeface="ＭＳ Ｐゴシック" pitchFamily="1" charset="-128"/>
            </a:endParaRPr>
          </a:p>
        </p:txBody>
      </p:sp>
      <p:sp>
        <p:nvSpPr>
          <p:cNvPr id="18435" name="Slide Number Placeholder 3"/>
          <p:cNvSpPr>
            <a:spLocks noGrp="1"/>
          </p:cNvSpPr>
          <p:nvPr>
            <p:ph type="sldNum" sz="quarter" idx="5"/>
          </p:nvPr>
        </p:nvSpPr>
        <p:spPr bwMode="auto">
          <a:noFill/>
          <a:ln>
            <a:miter lim="800000"/>
            <a:headEnd/>
            <a:tailEnd/>
          </a:ln>
        </p:spPr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0CA7B74D-3791-4AC6-8451-F10DBCCCDD9A}" type="slidenum"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itchFamily="34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4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itchFamily="34" charset="0"/>
              <a:ea typeface="ＭＳ Ｐゴシック" pitchFamily="1" charset="-128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77350546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3" name="Slide Image Placeholder 1"/>
          <p:cNvSpPr>
            <a:spLocks noGrp="1" noRot="1" noChangeAspect="1"/>
          </p:cNvSpPr>
          <p:nvPr>
            <p:ph type="sldImg"/>
          </p:nvPr>
        </p:nvSpPr>
        <p:spPr bwMode="auto">
          <a:xfrm>
            <a:off x="381000" y="685800"/>
            <a:ext cx="6096000" cy="3429000"/>
          </a:xfrm>
          <a:noFill/>
          <a:ln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18434" name="Notes Placeholder 2"/>
          <p:cNvSpPr>
            <a:spLocks noGrp="1"/>
          </p:cNvSpPr>
          <p:nvPr>
            <p:ph type="body" idx="1"/>
          </p:nvPr>
        </p:nvSpPr>
        <p:spPr bwMode="auto">
          <a:noFill/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spcBef>
                <a:spcPct val="0"/>
              </a:spcBef>
            </a:pPr>
            <a:endParaRPr lang="en-US">
              <a:ea typeface="ＭＳ Ｐゴシック" pitchFamily="1" charset="-128"/>
            </a:endParaRPr>
          </a:p>
        </p:txBody>
      </p:sp>
      <p:sp>
        <p:nvSpPr>
          <p:cNvPr id="18435" name="Slide Number Placeholder 3"/>
          <p:cNvSpPr>
            <a:spLocks noGrp="1"/>
          </p:cNvSpPr>
          <p:nvPr>
            <p:ph type="sldNum" sz="quarter" idx="5"/>
          </p:nvPr>
        </p:nvSpPr>
        <p:spPr bwMode="auto">
          <a:noFill/>
          <a:ln>
            <a:miter lim="800000"/>
            <a:headEnd/>
            <a:tailEnd/>
          </a:ln>
        </p:spPr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0CA7B74D-3791-4AC6-8451-F10DBCCCDD9A}" type="slidenum"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itchFamily="34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5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itchFamily="34" charset="0"/>
              <a:ea typeface="ＭＳ Ｐゴシック" pitchFamily="1" charset="-128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641722845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3" name="Slide Image Placeholder 1"/>
          <p:cNvSpPr>
            <a:spLocks noGrp="1" noRot="1" noChangeAspect="1"/>
          </p:cNvSpPr>
          <p:nvPr>
            <p:ph type="sldImg"/>
          </p:nvPr>
        </p:nvSpPr>
        <p:spPr bwMode="auto">
          <a:xfrm>
            <a:off x="381000" y="685800"/>
            <a:ext cx="6096000" cy="3429000"/>
          </a:xfrm>
          <a:noFill/>
          <a:ln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18434" name="Notes Placeholder 2"/>
          <p:cNvSpPr>
            <a:spLocks noGrp="1"/>
          </p:cNvSpPr>
          <p:nvPr>
            <p:ph type="body" idx="1"/>
          </p:nvPr>
        </p:nvSpPr>
        <p:spPr bwMode="auto">
          <a:noFill/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spcBef>
                <a:spcPct val="0"/>
              </a:spcBef>
            </a:pPr>
            <a:endParaRPr lang="en-US">
              <a:ea typeface="ＭＳ Ｐゴシック" pitchFamily="1" charset="-128"/>
            </a:endParaRPr>
          </a:p>
        </p:txBody>
      </p:sp>
      <p:sp>
        <p:nvSpPr>
          <p:cNvPr id="18435" name="Slide Number Placeholder 3"/>
          <p:cNvSpPr>
            <a:spLocks noGrp="1"/>
          </p:cNvSpPr>
          <p:nvPr>
            <p:ph type="sldNum" sz="quarter" idx="5"/>
          </p:nvPr>
        </p:nvSpPr>
        <p:spPr bwMode="auto">
          <a:noFill/>
          <a:ln>
            <a:miter lim="800000"/>
            <a:headEnd/>
            <a:tailEnd/>
          </a:ln>
        </p:spPr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0CA7B74D-3791-4AC6-8451-F10DBCCCDD9A}" type="slidenum"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itchFamily="34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6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itchFamily="34" charset="0"/>
              <a:ea typeface="ＭＳ Ｐゴシック" pitchFamily="1" charset="-128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908672725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914400" y="2130428"/>
            <a:ext cx="103632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828800" y="3886200"/>
            <a:ext cx="85344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E60792E3-D524-454C-8AFD-A91972900BCB}" type="datetime1">
              <a:rPr lang="en-US" smtClean="0"/>
              <a:t>6/2/2026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5B7E1BAA-A38D-40DE-B22C-DF9BD7D82058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708B7524-32A2-4C20-A58C-BC3BAA1042FC}" type="datetime1">
              <a:rPr lang="en-US" smtClean="0"/>
              <a:t>6/2/2026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677C3CE7-23F7-4828-823C-E0205DF2CF97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63084" y="4406903"/>
            <a:ext cx="103632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63084" y="2906713"/>
            <a:ext cx="103632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1E994447-D6B2-43BB-A877-57F1A267B999}" type="datetime1">
              <a:rPr lang="en-US" smtClean="0"/>
              <a:t>6/2/2026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41DB31D2-2A87-4F4C-A9AD-05C6CC2B321D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09600" y="1600203"/>
            <a:ext cx="53848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97600" y="1600203"/>
            <a:ext cx="53848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68920E16-BD35-483C-AA6B-346FC7E46DEA}" type="datetime1">
              <a:rPr lang="en-US" smtClean="0"/>
              <a:t>6/2/2026</a:t>
            </a:fld>
            <a:endParaRPr lang="en-US"/>
          </a:p>
        </p:txBody>
      </p:sp>
      <p:sp>
        <p:nvSpPr>
          <p:cNvPr id="6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7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E1FC16D9-1635-4844-816A-0A8A2160FADA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600" y="1535113"/>
            <a:ext cx="5386917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09600" y="2174875"/>
            <a:ext cx="5386917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93369" y="1535113"/>
            <a:ext cx="5389033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93369" y="2174875"/>
            <a:ext cx="5389033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2FEAC6F8-5103-4FC0-A69E-5C6AE6469DA8}" type="datetime1">
              <a:rPr lang="en-US" smtClean="0"/>
              <a:t>6/2/2026</a:t>
            </a:fld>
            <a:endParaRPr lang="en-US"/>
          </a:p>
        </p:txBody>
      </p:sp>
      <p:sp>
        <p:nvSpPr>
          <p:cNvPr id="8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9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71C4100A-98DE-4944-910A-A93F5CA9F724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C60C6921-0627-4C8F-83D5-0CF936D2FFDD}" type="datetime1">
              <a:rPr lang="en-US" smtClean="0"/>
              <a:t>6/2/2026</a:t>
            </a:fld>
            <a:endParaRPr lang="en-US"/>
          </a:p>
        </p:txBody>
      </p:sp>
      <p:sp>
        <p:nvSpPr>
          <p:cNvPr id="4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5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6A63342B-5A73-45DC-864D-086DE78037EF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2FF08AD7-8103-40F8-983C-E2BA6BB9CBE0}" type="datetime1">
              <a:rPr lang="en-US" smtClean="0"/>
              <a:t>6/2/2026</a:t>
            </a:fld>
            <a:endParaRPr lang="en-US"/>
          </a:p>
        </p:txBody>
      </p:sp>
      <p:sp>
        <p:nvSpPr>
          <p:cNvPr id="3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4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B635AFB3-1ACD-44AC-8702-86B1729DF035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09602" y="273050"/>
            <a:ext cx="4011084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766733" y="273053"/>
            <a:ext cx="6815667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09602" y="1435103"/>
            <a:ext cx="4011084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DF8C06B4-9380-4A4D-AF49-A3596E17DAF5}" type="datetime1">
              <a:rPr lang="en-US" smtClean="0"/>
              <a:t>6/2/2026</a:t>
            </a:fld>
            <a:endParaRPr lang="en-US"/>
          </a:p>
        </p:txBody>
      </p:sp>
      <p:sp>
        <p:nvSpPr>
          <p:cNvPr id="6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7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05CF15F3-5E77-4C57-9E21-50D6D1D6C022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389717" y="4800600"/>
            <a:ext cx="73152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2389717" y="612775"/>
            <a:ext cx="7315200" cy="4114800"/>
          </a:xfrm>
        </p:spPr>
        <p:txBody>
          <a:bodyPr rtlCol="0">
            <a:normAutofit/>
          </a:bodyPr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 lvl="0"/>
            <a:endParaRPr lang="en-US" noProof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389717" y="5367338"/>
            <a:ext cx="73152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EF7FDEF1-C582-4E22-9E77-D68326471F28}" type="datetime1">
              <a:rPr lang="en-US" smtClean="0"/>
              <a:t>6/2/2026</a:t>
            </a:fld>
            <a:endParaRPr lang="en-US"/>
          </a:p>
        </p:txBody>
      </p:sp>
      <p:sp>
        <p:nvSpPr>
          <p:cNvPr id="6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7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1242169A-B3C7-4FB6-967F-AF95F4EB3315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053C3A68-6922-42D3-8905-ECC2D82A3469}" type="datetime1">
              <a:rPr lang="en-US" smtClean="0"/>
              <a:t>6/2/2026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94FDD027-5576-4F27-AAB6-1D994836EE78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839200" y="274641"/>
            <a:ext cx="27432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09600" y="274641"/>
            <a:ext cx="80264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CB69E9F4-7604-4950-A8B2-8ACDEDB1506E}" type="datetime1">
              <a:rPr lang="en-US" smtClean="0"/>
              <a:t>6/2/2026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2957CE61-8714-431B-A40A-01B1C5541AB7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6" name="Title Placeholder 1"/>
          <p:cNvSpPr>
            <a:spLocks noGrp="1"/>
          </p:cNvSpPr>
          <p:nvPr>
            <p:ph type="title"/>
          </p:nvPr>
        </p:nvSpPr>
        <p:spPr bwMode="auto">
          <a:xfrm>
            <a:off x="609600" y="-47625"/>
            <a:ext cx="10972800" cy="11430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/>
          <a:p>
            <a:pPr lvl="0"/>
            <a:r>
              <a:rPr lang="en-US"/>
              <a:t>Click to edit Master title style</a:t>
            </a:r>
          </a:p>
        </p:txBody>
      </p:sp>
      <p:sp>
        <p:nvSpPr>
          <p:cNvPr id="1027" name="Text Placeholder 2"/>
          <p:cNvSpPr>
            <a:spLocks noGrp="1"/>
          </p:cNvSpPr>
          <p:nvPr>
            <p:ph type="body" idx="1"/>
          </p:nvPr>
        </p:nvSpPr>
        <p:spPr bwMode="auto">
          <a:xfrm>
            <a:off x="609600" y="1095375"/>
            <a:ext cx="10972800" cy="503078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09600" y="6356353"/>
            <a:ext cx="2844800" cy="365125"/>
          </a:xfrm>
          <a:prstGeom prst="rect">
            <a:avLst/>
          </a:prstGeom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>
            <a:lvl1pPr>
              <a:defRPr sz="1200">
                <a:solidFill>
                  <a:srgbClr val="898989"/>
                </a:solidFill>
                <a:latin typeface="TradeGothic" pitchFamily="1" charset="0"/>
              </a:defRPr>
            </a:lvl1pPr>
          </a:lstStyle>
          <a:p>
            <a:fld id="{780A9602-A9A9-453F-AEF1-37B5837E02CD}" type="datetime1">
              <a:rPr lang="en-US" smtClean="0"/>
              <a:t>6/2/2026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165600" y="6356353"/>
            <a:ext cx="3860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 fontAlgn="auto">
              <a:spcBef>
                <a:spcPts val="0"/>
              </a:spcBef>
              <a:spcAft>
                <a:spcPts val="0"/>
              </a:spcAft>
              <a:defRPr sz="1200">
                <a:solidFill>
                  <a:schemeClr val="tx1">
                    <a:tint val="75000"/>
                  </a:schemeClr>
                </a:solidFill>
                <a:latin typeface="TradeGothic"/>
                <a:ea typeface="+mn-ea"/>
                <a:cs typeface="+mn-cs"/>
              </a:defRPr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737600" y="6356353"/>
            <a:ext cx="2844800" cy="365125"/>
          </a:xfrm>
          <a:prstGeom prst="rect">
            <a:avLst/>
          </a:prstGeom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>
            <a:lvl1pPr algn="r">
              <a:defRPr sz="1200">
                <a:solidFill>
                  <a:srgbClr val="898989"/>
                </a:solidFill>
                <a:latin typeface="TradeGothic" pitchFamily="1" charset="0"/>
              </a:defRPr>
            </a:lvl1pPr>
          </a:lstStyle>
          <a:p>
            <a:fld id="{1411BA53-830D-4830-BB65-E58DBE17D0B7}" type="slidenum">
              <a:rPr lang="en-US"/>
              <a:pPr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hdr="0" dt="0"/>
  <p:txStyles>
    <p:titleStyle>
      <a:lvl1pPr algn="ctr" defTabSz="457200" rtl="0" eaLnBrk="0" fontAlgn="base" hangingPunct="0">
        <a:spcBef>
          <a:spcPct val="0"/>
        </a:spcBef>
        <a:spcAft>
          <a:spcPct val="0"/>
        </a:spcAft>
        <a:defRPr sz="4400" kern="1200">
          <a:solidFill>
            <a:schemeClr val="tx1"/>
          </a:solidFill>
          <a:latin typeface="TradeGothic"/>
          <a:ea typeface="ＭＳ Ｐゴシック" charset="0"/>
          <a:cs typeface="ＭＳ Ｐゴシック" charset="0"/>
        </a:defRPr>
      </a:lvl1pPr>
      <a:lvl2pPr algn="ctr" defTabSz="457200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2pPr>
      <a:lvl3pPr algn="ctr" defTabSz="457200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3pPr>
      <a:lvl4pPr algn="ctr" defTabSz="457200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4pPr>
      <a:lvl5pPr algn="ctr" defTabSz="457200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5pPr>
      <a:lvl6pPr marL="457200" algn="ctr" defTabSz="457200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6pPr>
      <a:lvl7pPr marL="914400" algn="ctr" defTabSz="457200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7pPr>
      <a:lvl8pPr marL="1371600" algn="ctr" defTabSz="457200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8pPr>
      <a:lvl9pPr marL="1828800" algn="ctr" defTabSz="457200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9pPr>
    </p:titleStyle>
    <p:bodyStyle>
      <a:lvl1pPr marL="342900" indent="-342900" algn="l" defTabSz="457200" rtl="0" eaLnBrk="0" fontAlgn="base" hangingPunct="0">
        <a:spcBef>
          <a:spcPct val="20000"/>
        </a:spcBef>
        <a:spcAft>
          <a:spcPct val="0"/>
        </a:spcAft>
        <a:buFont typeface="Arial" pitchFamily="34" charset="0"/>
        <a:buChar char="•"/>
        <a:defRPr sz="3200" kern="1200">
          <a:solidFill>
            <a:schemeClr val="tx1"/>
          </a:solidFill>
          <a:latin typeface="TradeGothic"/>
          <a:ea typeface="ＭＳ Ｐゴシック" charset="0"/>
          <a:cs typeface="ＭＳ Ｐゴシック" charset="0"/>
        </a:defRPr>
      </a:lvl1pPr>
      <a:lvl2pPr marL="742950" indent="-285750" algn="l" defTabSz="457200" rtl="0" eaLnBrk="0" fontAlgn="base" hangingPunct="0">
        <a:spcBef>
          <a:spcPct val="20000"/>
        </a:spcBef>
        <a:spcAft>
          <a:spcPct val="0"/>
        </a:spcAft>
        <a:buFont typeface="Arial" pitchFamily="34" charset="0"/>
        <a:buChar char="–"/>
        <a:defRPr sz="2800" kern="1200">
          <a:solidFill>
            <a:schemeClr val="tx1"/>
          </a:solidFill>
          <a:latin typeface="TradeGothic"/>
          <a:ea typeface="ＭＳ Ｐゴシック" charset="0"/>
          <a:cs typeface="+mn-cs"/>
        </a:defRPr>
      </a:lvl2pPr>
      <a:lvl3pPr marL="1143000" indent="-228600" algn="l" defTabSz="457200" rtl="0" eaLnBrk="0" fontAlgn="base" hangingPunct="0">
        <a:spcBef>
          <a:spcPct val="20000"/>
        </a:spcBef>
        <a:spcAft>
          <a:spcPct val="0"/>
        </a:spcAft>
        <a:buFont typeface="Arial" pitchFamily="34" charset="0"/>
        <a:buChar char="•"/>
        <a:defRPr sz="2400" kern="1200">
          <a:solidFill>
            <a:schemeClr val="tx1"/>
          </a:solidFill>
          <a:latin typeface="TradeGothic"/>
          <a:ea typeface="ＭＳ Ｐゴシック" charset="0"/>
          <a:cs typeface="+mn-cs"/>
        </a:defRPr>
      </a:lvl3pPr>
      <a:lvl4pPr marL="1600200" indent="-228600" algn="l" defTabSz="457200" rtl="0" eaLnBrk="0" fontAlgn="base" hangingPunct="0">
        <a:spcBef>
          <a:spcPct val="20000"/>
        </a:spcBef>
        <a:spcAft>
          <a:spcPct val="0"/>
        </a:spcAft>
        <a:buFont typeface="Arial" pitchFamily="34" charset="0"/>
        <a:buChar char="–"/>
        <a:defRPr sz="2000" kern="1200">
          <a:solidFill>
            <a:schemeClr val="tx1"/>
          </a:solidFill>
          <a:latin typeface="TradeGothic"/>
          <a:ea typeface="ＭＳ Ｐゴシック" charset="0"/>
          <a:cs typeface="+mn-cs"/>
        </a:defRPr>
      </a:lvl4pPr>
      <a:lvl5pPr marL="2057400" indent="-228600" algn="l" defTabSz="457200" rtl="0" eaLnBrk="0" fontAlgn="base" hangingPunct="0">
        <a:spcBef>
          <a:spcPct val="20000"/>
        </a:spcBef>
        <a:spcAft>
          <a:spcPct val="0"/>
        </a:spcAft>
        <a:buFont typeface="Arial" pitchFamily="34" charset="0"/>
        <a:buChar char="»"/>
        <a:defRPr sz="2000" kern="1200">
          <a:solidFill>
            <a:schemeClr val="tx1"/>
          </a:solidFill>
          <a:latin typeface="TradeGothic"/>
          <a:ea typeface="ＭＳ Ｐゴシック" charset="0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8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2.png"/><Relationship Id="rId4" Type="http://schemas.openxmlformats.org/officeDocument/2006/relationships/image" Target="../media/image4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2.png"/><Relationship Id="rId4" Type="http://schemas.openxmlformats.org/officeDocument/2006/relationships/image" Target="../media/image5.png"/><Relationship Id="rId5" Type="http://schemas.openxmlformats.org/officeDocument/2006/relationships/image" Target="../media/image9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2.png"/><Relationship Id="rId4" Type="http://schemas.openxmlformats.org/officeDocument/2006/relationships/image" Target="../media/image6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2.png"/><Relationship Id="rId4" Type="http://schemas.openxmlformats.org/officeDocument/2006/relationships/image" Target="../media/image7.png"/><Relationship Id="rId5" Type="http://schemas.openxmlformats.org/officeDocument/2006/relationships/image" Target="../media/image10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36" name="Rectangle 24">
            <a:extLst>
              <a:ext uri="{FF2B5EF4-FFF2-40B4-BE49-F238E27FC236}">
                <a16:creationId xmlns:a16="http://schemas.microsoft.com/office/drawing/2014/main" id="{3E443FD7-A66B-4AA0-872D-B088B9BC5F17}"/>
              </a:ext>
              <a:ext uri="{C183D7F6-B498-43B3-948B-1728B52AA6E4}">
                <adec:decorative xmlns:adec="http://schemas.microsoft.com/office/drawing/2017/decorative" xmlns="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524000" y="0"/>
            <a:ext cx="9144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7" name="Freeform: Shape 26">
            <a:extLst>
              <a:ext uri="{FF2B5EF4-FFF2-40B4-BE49-F238E27FC236}">
                <a16:creationId xmlns:a16="http://schemas.microsoft.com/office/drawing/2014/main" id="{C04BE0EF-3561-49B4-9A29-F283168A91C7}"/>
              </a:ext>
              <a:ext uri="{C183D7F6-B498-43B3-948B-1728B52AA6E4}">
                <adec:decorative xmlns:adec="http://schemas.microsoft.com/office/drawing/2017/decorative" xmlns="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5656780" y="851521"/>
            <a:ext cx="4638605" cy="5154967"/>
          </a:xfrm>
          <a:custGeom>
            <a:avLst/>
            <a:gdLst>
              <a:gd name="connsiteX0" fmla="*/ 363179 w 6184806"/>
              <a:gd name="connsiteY0" fmla="*/ 3125191 h 5154967"/>
              <a:gd name="connsiteX1" fmla="*/ 898270 w 6184806"/>
              <a:gd name="connsiteY1" fmla="*/ 3125191 h 5154967"/>
              <a:gd name="connsiteX2" fmla="*/ 980326 w 6184806"/>
              <a:gd name="connsiteY2" fmla="*/ 3173551 h 5154967"/>
              <a:gd name="connsiteX3" fmla="*/ 1248448 w 6184806"/>
              <a:gd name="connsiteY3" fmla="*/ 3635277 h 5154967"/>
              <a:gd name="connsiteX4" fmla="*/ 1248448 w 6184806"/>
              <a:gd name="connsiteY4" fmla="*/ 3729695 h 5154967"/>
              <a:gd name="connsiteX5" fmla="*/ 980326 w 6184806"/>
              <a:gd name="connsiteY5" fmla="*/ 4191421 h 5154967"/>
              <a:gd name="connsiteX6" fmla="*/ 898270 w 6184806"/>
              <a:gd name="connsiteY6" fmla="*/ 4239781 h 5154967"/>
              <a:gd name="connsiteX7" fmla="*/ 363179 w 6184806"/>
              <a:gd name="connsiteY7" fmla="*/ 4239781 h 5154967"/>
              <a:gd name="connsiteX8" fmla="*/ 279969 w 6184806"/>
              <a:gd name="connsiteY8" fmla="*/ 4191421 h 5154967"/>
              <a:gd name="connsiteX9" fmla="*/ 13002 w 6184806"/>
              <a:gd name="connsiteY9" fmla="*/ 3729695 h 5154967"/>
              <a:gd name="connsiteX10" fmla="*/ 13002 w 6184806"/>
              <a:gd name="connsiteY10" fmla="*/ 3635277 h 5154967"/>
              <a:gd name="connsiteX11" fmla="*/ 279969 w 6184806"/>
              <a:gd name="connsiteY11" fmla="*/ 3173551 h 5154967"/>
              <a:gd name="connsiteX12" fmla="*/ 363179 w 6184806"/>
              <a:gd name="connsiteY12" fmla="*/ 3125191 h 5154967"/>
              <a:gd name="connsiteX13" fmla="*/ 2489721 w 6184806"/>
              <a:gd name="connsiteY13" fmla="*/ 570035 h 5154967"/>
              <a:gd name="connsiteX14" fmla="*/ 2764862 w 6184806"/>
              <a:gd name="connsiteY14" fmla="*/ 570035 h 5154967"/>
              <a:gd name="connsiteX15" fmla="*/ 2796959 w 6184806"/>
              <a:gd name="connsiteY15" fmla="*/ 570035 h 5154967"/>
              <a:gd name="connsiteX16" fmla="*/ 2827587 w 6184806"/>
              <a:gd name="connsiteY16" fmla="*/ 622777 h 5154967"/>
              <a:gd name="connsiteX17" fmla="*/ 2977604 w 6184806"/>
              <a:gd name="connsiteY17" fmla="*/ 881117 h 5154967"/>
              <a:gd name="connsiteX18" fmla="*/ 2977604 w 6184806"/>
              <a:gd name="connsiteY18" fmla="*/ 1025720 h 5154967"/>
              <a:gd name="connsiteX19" fmla="*/ 2566968 w 6184806"/>
              <a:gd name="connsiteY19" fmla="*/ 1732863 h 5154967"/>
              <a:gd name="connsiteX20" fmla="*/ 2441299 w 6184806"/>
              <a:gd name="connsiteY20" fmla="*/ 1806927 h 5154967"/>
              <a:gd name="connsiteX21" fmla="*/ 1621798 w 6184806"/>
              <a:gd name="connsiteY21" fmla="*/ 1806927 h 5154967"/>
              <a:gd name="connsiteX22" fmla="*/ 1583218 w 6184806"/>
              <a:gd name="connsiteY22" fmla="*/ 1801802 h 5154967"/>
              <a:gd name="connsiteX23" fmla="*/ 1556683 w 6184806"/>
              <a:gd name="connsiteY23" fmla="*/ 1790677 h 5154967"/>
              <a:gd name="connsiteX24" fmla="*/ 1572899 w 6184806"/>
              <a:gd name="connsiteY24" fmla="*/ 1762630 h 5154967"/>
              <a:gd name="connsiteX25" fmla="*/ 2147429 w 6184806"/>
              <a:gd name="connsiteY25" fmla="*/ 768968 h 5154967"/>
              <a:gd name="connsiteX26" fmla="*/ 2489721 w 6184806"/>
              <a:gd name="connsiteY26" fmla="*/ 570035 h 5154967"/>
              <a:gd name="connsiteX27" fmla="*/ 1573268 w 6184806"/>
              <a:gd name="connsiteY27" fmla="*/ 0 h 5154967"/>
              <a:gd name="connsiteX28" fmla="*/ 2497662 w 6184806"/>
              <a:gd name="connsiteY28" fmla="*/ 0 h 5154967"/>
              <a:gd name="connsiteX29" fmla="*/ 2639415 w 6184806"/>
              <a:gd name="connsiteY29" fmla="*/ 83546 h 5154967"/>
              <a:gd name="connsiteX30" fmla="*/ 2887862 w 6184806"/>
              <a:gd name="connsiteY30" fmla="*/ 511387 h 5154967"/>
              <a:gd name="connsiteX31" fmla="*/ 2915928 w 6184806"/>
              <a:gd name="connsiteY31" fmla="*/ 559720 h 5154967"/>
              <a:gd name="connsiteX32" fmla="*/ 2893844 w 6184806"/>
              <a:gd name="connsiteY32" fmla="*/ 559720 h 5154967"/>
              <a:gd name="connsiteX33" fmla="*/ 2789466 w 6184806"/>
              <a:gd name="connsiteY33" fmla="*/ 559720 h 5154967"/>
              <a:gd name="connsiteX34" fmla="*/ 2744122 w 6184806"/>
              <a:gd name="connsiteY34" fmla="*/ 481634 h 5154967"/>
              <a:gd name="connsiteX35" fmla="*/ 2570885 w 6184806"/>
              <a:gd name="connsiteY35" fmla="*/ 183309 h 5154967"/>
              <a:gd name="connsiteX36" fmla="*/ 2445216 w 6184806"/>
              <a:gd name="connsiteY36" fmla="*/ 109243 h 5154967"/>
              <a:gd name="connsiteX37" fmla="*/ 1625714 w 6184806"/>
              <a:gd name="connsiteY37" fmla="*/ 109243 h 5154967"/>
              <a:gd name="connsiteX38" fmla="*/ 1498276 w 6184806"/>
              <a:gd name="connsiteY38" fmla="*/ 183309 h 5154967"/>
              <a:gd name="connsiteX39" fmla="*/ 1089410 w 6184806"/>
              <a:gd name="connsiteY39" fmla="*/ 890450 h 5154967"/>
              <a:gd name="connsiteX40" fmla="*/ 1089410 w 6184806"/>
              <a:gd name="connsiteY40" fmla="*/ 1035054 h 5154967"/>
              <a:gd name="connsiteX41" fmla="*/ 1498276 w 6184806"/>
              <a:gd name="connsiteY41" fmla="*/ 1742196 h 5154967"/>
              <a:gd name="connsiteX42" fmla="*/ 1552039 w 6184806"/>
              <a:gd name="connsiteY42" fmla="*/ 1796422 h 5154967"/>
              <a:gd name="connsiteX43" fmla="*/ 1558260 w 6184806"/>
              <a:gd name="connsiteY43" fmla="*/ 1799029 h 5154967"/>
              <a:gd name="connsiteX44" fmla="*/ 1524911 w 6184806"/>
              <a:gd name="connsiteY44" fmla="*/ 1856707 h 5154967"/>
              <a:gd name="connsiteX45" fmla="*/ 1500108 w 6184806"/>
              <a:gd name="connsiteY45" fmla="*/ 1899604 h 5154967"/>
              <a:gd name="connsiteX46" fmla="*/ 1525834 w 6184806"/>
              <a:gd name="connsiteY46" fmla="*/ 1910390 h 5154967"/>
              <a:gd name="connsiteX47" fmla="*/ 1569352 w 6184806"/>
              <a:gd name="connsiteY47" fmla="*/ 1916170 h 5154967"/>
              <a:gd name="connsiteX48" fmla="*/ 2493745 w 6184806"/>
              <a:gd name="connsiteY48" fmla="*/ 1916170 h 5154967"/>
              <a:gd name="connsiteX49" fmla="*/ 2635498 w 6184806"/>
              <a:gd name="connsiteY49" fmla="*/ 1832627 h 5154967"/>
              <a:gd name="connsiteX50" fmla="*/ 3098693 w 6184806"/>
              <a:gd name="connsiteY50" fmla="*/ 1034974 h 5154967"/>
              <a:gd name="connsiteX51" fmla="*/ 3098693 w 6184806"/>
              <a:gd name="connsiteY51" fmla="*/ 871863 h 5154967"/>
              <a:gd name="connsiteX52" fmla="*/ 2945803 w 6184806"/>
              <a:gd name="connsiteY52" fmla="*/ 608576 h 5154967"/>
              <a:gd name="connsiteX53" fmla="*/ 2923422 w 6184806"/>
              <a:gd name="connsiteY53" fmla="*/ 570035 h 5154967"/>
              <a:gd name="connsiteX54" fmla="*/ 3027104 w 6184806"/>
              <a:gd name="connsiteY54" fmla="*/ 570035 h 5154967"/>
              <a:gd name="connsiteX55" fmla="*/ 4690846 w 6184806"/>
              <a:gd name="connsiteY55" fmla="*/ 570035 h 5154967"/>
              <a:gd name="connsiteX56" fmla="*/ 5028384 w 6184806"/>
              <a:gd name="connsiteY56" fmla="*/ 768968 h 5154967"/>
              <a:gd name="connsiteX57" fmla="*/ 6131323 w 6184806"/>
              <a:gd name="connsiteY57" fmla="*/ 2668304 h 5154967"/>
              <a:gd name="connsiteX58" fmla="*/ 6131323 w 6184806"/>
              <a:gd name="connsiteY58" fmla="*/ 3056698 h 5154967"/>
              <a:gd name="connsiteX59" fmla="*/ 5028384 w 6184806"/>
              <a:gd name="connsiteY59" fmla="*/ 4956035 h 5154967"/>
              <a:gd name="connsiteX60" fmla="*/ 4690846 w 6184806"/>
              <a:gd name="connsiteY60" fmla="*/ 5154967 h 5154967"/>
              <a:gd name="connsiteX61" fmla="*/ 2489721 w 6184806"/>
              <a:gd name="connsiteY61" fmla="*/ 5154967 h 5154967"/>
              <a:gd name="connsiteX62" fmla="*/ 2147429 w 6184806"/>
              <a:gd name="connsiteY62" fmla="*/ 4956035 h 5154967"/>
              <a:gd name="connsiteX63" fmla="*/ 1049243 w 6184806"/>
              <a:gd name="connsiteY63" fmla="*/ 3056698 h 5154967"/>
              <a:gd name="connsiteX64" fmla="*/ 1049243 w 6184806"/>
              <a:gd name="connsiteY64" fmla="*/ 2668304 h 5154967"/>
              <a:gd name="connsiteX65" fmla="*/ 1457007 w 6184806"/>
              <a:gd name="connsiteY65" fmla="*/ 1963067 h 5154967"/>
              <a:gd name="connsiteX66" fmla="*/ 1491373 w 6184806"/>
              <a:gd name="connsiteY66" fmla="*/ 1903634 h 5154967"/>
              <a:gd name="connsiteX67" fmla="*/ 1490164 w 6184806"/>
              <a:gd name="connsiteY67" fmla="*/ 1903127 h 5154967"/>
              <a:gd name="connsiteX68" fmla="*/ 1429519 w 6184806"/>
              <a:gd name="connsiteY68" fmla="*/ 1841960 h 5154967"/>
              <a:gd name="connsiteX69" fmla="*/ 968320 w 6184806"/>
              <a:gd name="connsiteY69" fmla="*/ 1044307 h 5154967"/>
              <a:gd name="connsiteX70" fmla="*/ 968320 w 6184806"/>
              <a:gd name="connsiteY70" fmla="*/ 881196 h 5154967"/>
              <a:gd name="connsiteX71" fmla="*/ 1429519 w 6184806"/>
              <a:gd name="connsiteY71" fmla="*/ 83546 h 5154967"/>
              <a:gd name="connsiteX72" fmla="*/ 1573268 w 6184806"/>
              <a:gd name="connsiteY72" fmla="*/ 0 h 515496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</a:cxnLst>
            <a:rect l="l" t="t" r="r" b="b"/>
            <a:pathLst>
              <a:path w="6184806" h="5154967">
                <a:moveTo>
                  <a:pt x="363179" y="3125191"/>
                </a:moveTo>
                <a:cubicBezTo>
                  <a:pt x="363179" y="3125191"/>
                  <a:pt x="363179" y="3125191"/>
                  <a:pt x="898270" y="3125191"/>
                </a:cubicBezTo>
                <a:cubicBezTo>
                  <a:pt x="931786" y="3125191"/>
                  <a:pt x="964145" y="3143614"/>
                  <a:pt x="980326" y="3173551"/>
                </a:cubicBezTo>
                <a:cubicBezTo>
                  <a:pt x="980326" y="3173551"/>
                  <a:pt x="980326" y="3173551"/>
                  <a:pt x="1248448" y="3635277"/>
                </a:cubicBezTo>
                <a:cubicBezTo>
                  <a:pt x="1265784" y="3664063"/>
                  <a:pt x="1265784" y="3700909"/>
                  <a:pt x="1248448" y="3729695"/>
                </a:cubicBezTo>
                <a:cubicBezTo>
                  <a:pt x="1248448" y="3729695"/>
                  <a:pt x="1248448" y="3729695"/>
                  <a:pt x="980326" y="4191421"/>
                </a:cubicBezTo>
                <a:cubicBezTo>
                  <a:pt x="964145" y="4221358"/>
                  <a:pt x="931786" y="4239781"/>
                  <a:pt x="898270" y="4239781"/>
                </a:cubicBezTo>
                <a:cubicBezTo>
                  <a:pt x="898270" y="4239781"/>
                  <a:pt x="898270" y="4239781"/>
                  <a:pt x="363179" y="4239781"/>
                </a:cubicBezTo>
                <a:cubicBezTo>
                  <a:pt x="328508" y="4239781"/>
                  <a:pt x="297305" y="4221358"/>
                  <a:pt x="279969" y="4191421"/>
                </a:cubicBezTo>
                <a:cubicBezTo>
                  <a:pt x="279969" y="4191421"/>
                  <a:pt x="279969" y="4191421"/>
                  <a:pt x="13002" y="3729695"/>
                </a:cubicBezTo>
                <a:cubicBezTo>
                  <a:pt x="-4334" y="3700909"/>
                  <a:pt x="-4334" y="3664063"/>
                  <a:pt x="13002" y="3635277"/>
                </a:cubicBezTo>
                <a:cubicBezTo>
                  <a:pt x="13002" y="3635277"/>
                  <a:pt x="13002" y="3635277"/>
                  <a:pt x="279969" y="3173551"/>
                </a:cubicBezTo>
                <a:cubicBezTo>
                  <a:pt x="297305" y="3143614"/>
                  <a:pt x="328508" y="3125191"/>
                  <a:pt x="363179" y="3125191"/>
                </a:cubicBezTo>
                <a:close/>
                <a:moveTo>
                  <a:pt x="2489721" y="570035"/>
                </a:moveTo>
                <a:cubicBezTo>
                  <a:pt x="2489721" y="570035"/>
                  <a:pt x="2489721" y="570035"/>
                  <a:pt x="2764862" y="570035"/>
                </a:cubicBezTo>
                <a:lnTo>
                  <a:pt x="2796959" y="570035"/>
                </a:lnTo>
                <a:lnTo>
                  <a:pt x="2827587" y="622777"/>
                </a:lnTo>
                <a:cubicBezTo>
                  <a:pt x="2870233" y="696217"/>
                  <a:pt x="2919858" y="781675"/>
                  <a:pt x="2977604" y="881117"/>
                </a:cubicBezTo>
                <a:cubicBezTo>
                  <a:pt x="3004153" y="925204"/>
                  <a:pt x="3004153" y="981634"/>
                  <a:pt x="2977604" y="1025720"/>
                </a:cubicBezTo>
                <a:cubicBezTo>
                  <a:pt x="2977604" y="1025720"/>
                  <a:pt x="2977604" y="1025720"/>
                  <a:pt x="2566968" y="1732863"/>
                </a:cubicBezTo>
                <a:cubicBezTo>
                  <a:pt x="2542188" y="1778712"/>
                  <a:pt x="2492629" y="1806927"/>
                  <a:pt x="2441299" y="1806927"/>
                </a:cubicBezTo>
                <a:cubicBezTo>
                  <a:pt x="2441299" y="1806927"/>
                  <a:pt x="2441299" y="1806927"/>
                  <a:pt x="1621798" y="1806927"/>
                </a:cubicBezTo>
                <a:cubicBezTo>
                  <a:pt x="1608523" y="1806927"/>
                  <a:pt x="1595580" y="1805163"/>
                  <a:pt x="1583218" y="1801802"/>
                </a:cubicBezTo>
                <a:lnTo>
                  <a:pt x="1556683" y="1790677"/>
                </a:lnTo>
                <a:lnTo>
                  <a:pt x="1572899" y="1762630"/>
                </a:lnTo>
                <a:cubicBezTo>
                  <a:pt x="1719523" y="1509042"/>
                  <a:pt x="1907201" y="1184448"/>
                  <a:pt x="2147429" y="768968"/>
                </a:cubicBezTo>
                <a:cubicBezTo>
                  <a:pt x="2218739" y="645819"/>
                  <a:pt x="2347099" y="570035"/>
                  <a:pt x="2489721" y="570035"/>
                </a:cubicBezTo>
                <a:close/>
                <a:moveTo>
                  <a:pt x="1573268" y="0"/>
                </a:moveTo>
                <a:cubicBezTo>
                  <a:pt x="1573268" y="0"/>
                  <a:pt x="1573268" y="0"/>
                  <a:pt x="2497662" y="0"/>
                </a:cubicBezTo>
                <a:cubicBezTo>
                  <a:pt x="2555561" y="0"/>
                  <a:pt x="2611463" y="31828"/>
                  <a:pt x="2639415" y="83546"/>
                </a:cubicBezTo>
                <a:cubicBezTo>
                  <a:pt x="2639415" y="83546"/>
                  <a:pt x="2639415" y="83546"/>
                  <a:pt x="2887862" y="511387"/>
                </a:cubicBezTo>
                <a:lnTo>
                  <a:pt x="2915928" y="559720"/>
                </a:lnTo>
                <a:lnTo>
                  <a:pt x="2893844" y="559720"/>
                </a:lnTo>
                <a:lnTo>
                  <a:pt x="2789466" y="559720"/>
                </a:lnTo>
                <a:lnTo>
                  <a:pt x="2744122" y="481634"/>
                </a:lnTo>
                <a:cubicBezTo>
                  <a:pt x="2570885" y="183309"/>
                  <a:pt x="2570885" y="183309"/>
                  <a:pt x="2570885" y="183309"/>
                </a:cubicBezTo>
                <a:cubicBezTo>
                  <a:pt x="2546104" y="137459"/>
                  <a:pt x="2496545" y="109243"/>
                  <a:pt x="2445216" y="109243"/>
                </a:cubicBezTo>
                <a:cubicBezTo>
                  <a:pt x="1625714" y="109243"/>
                  <a:pt x="1625714" y="109243"/>
                  <a:pt x="1625714" y="109243"/>
                </a:cubicBezTo>
                <a:cubicBezTo>
                  <a:pt x="1572615" y="109243"/>
                  <a:pt x="1524825" y="137459"/>
                  <a:pt x="1498276" y="183309"/>
                </a:cubicBezTo>
                <a:cubicBezTo>
                  <a:pt x="1089410" y="890450"/>
                  <a:pt x="1089410" y="890450"/>
                  <a:pt x="1089410" y="890450"/>
                </a:cubicBezTo>
                <a:cubicBezTo>
                  <a:pt x="1062860" y="934537"/>
                  <a:pt x="1062860" y="990967"/>
                  <a:pt x="1089410" y="1035054"/>
                </a:cubicBezTo>
                <a:cubicBezTo>
                  <a:pt x="1498276" y="1742196"/>
                  <a:pt x="1498276" y="1742196"/>
                  <a:pt x="1498276" y="1742196"/>
                </a:cubicBezTo>
                <a:cubicBezTo>
                  <a:pt x="1511551" y="1765121"/>
                  <a:pt x="1530135" y="1783637"/>
                  <a:pt x="1552039" y="1796422"/>
                </a:cubicBezTo>
                <a:lnTo>
                  <a:pt x="1558260" y="1799029"/>
                </a:lnTo>
                <a:lnTo>
                  <a:pt x="1524911" y="1856707"/>
                </a:lnTo>
                <a:lnTo>
                  <a:pt x="1500108" y="1899604"/>
                </a:lnTo>
                <a:lnTo>
                  <a:pt x="1525834" y="1910390"/>
                </a:lnTo>
                <a:cubicBezTo>
                  <a:pt x="1539779" y="1914181"/>
                  <a:pt x="1554378" y="1916170"/>
                  <a:pt x="1569352" y="1916170"/>
                </a:cubicBezTo>
                <a:cubicBezTo>
                  <a:pt x="2493745" y="1916170"/>
                  <a:pt x="2493745" y="1916170"/>
                  <a:pt x="2493745" y="1916170"/>
                </a:cubicBezTo>
                <a:cubicBezTo>
                  <a:pt x="2551645" y="1916170"/>
                  <a:pt x="2607546" y="1884345"/>
                  <a:pt x="2635498" y="1832627"/>
                </a:cubicBezTo>
                <a:cubicBezTo>
                  <a:pt x="3098693" y="1034974"/>
                  <a:pt x="3098693" y="1034974"/>
                  <a:pt x="3098693" y="1034974"/>
                </a:cubicBezTo>
                <a:cubicBezTo>
                  <a:pt x="3128641" y="985246"/>
                  <a:pt x="3128641" y="921593"/>
                  <a:pt x="3098693" y="871863"/>
                </a:cubicBezTo>
                <a:cubicBezTo>
                  <a:pt x="3040794" y="772157"/>
                  <a:pt x="2990132" y="684914"/>
                  <a:pt x="2945803" y="608576"/>
                </a:cubicBezTo>
                <a:lnTo>
                  <a:pt x="2923422" y="570035"/>
                </a:lnTo>
                <a:lnTo>
                  <a:pt x="3027104" y="570035"/>
                </a:lnTo>
                <a:cubicBezTo>
                  <a:pt x="3349535" y="570035"/>
                  <a:pt x="3865424" y="570035"/>
                  <a:pt x="4690846" y="570035"/>
                </a:cubicBezTo>
                <a:cubicBezTo>
                  <a:pt x="4828714" y="570035"/>
                  <a:pt x="4961827" y="645819"/>
                  <a:pt x="5028384" y="768968"/>
                </a:cubicBezTo>
                <a:cubicBezTo>
                  <a:pt x="5028384" y="768968"/>
                  <a:pt x="5028384" y="768968"/>
                  <a:pt x="6131323" y="2668304"/>
                </a:cubicBezTo>
                <a:cubicBezTo>
                  <a:pt x="6202634" y="2786717"/>
                  <a:pt x="6202634" y="2938285"/>
                  <a:pt x="6131323" y="3056698"/>
                </a:cubicBezTo>
                <a:cubicBezTo>
                  <a:pt x="6131323" y="3056698"/>
                  <a:pt x="6131323" y="3056698"/>
                  <a:pt x="5028384" y="4956035"/>
                </a:cubicBezTo>
                <a:cubicBezTo>
                  <a:pt x="4961827" y="5079184"/>
                  <a:pt x="4828714" y="5154967"/>
                  <a:pt x="4690846" y="5154967"/>
                </a:cubicBezTo>
                <a:cubicBezTo>
                  <a:pt x="4690846" y="5154967"/>
                  <a:pt x="4690846" y="5154967"/>
                  <a:pt x="2489721" y="5154967"/>
                </a:cubicBezTo>
                <a:cubicBezTo>
                  <a:pt x="2347099" y="5154967"/>
                  <a:pt x="2218739" y="5079184"/>
                  <a:pt x="2147429" y="4956035"/>
                </a:cubicBezTo>
                <a:cubicBezTo>
                  <a:pt x="2147429" y="4956035"/>
                  <a:pt x="2147429" y="4956035"/>
                  <a:pt x="1049243" y="3056698"/>
                </a:cubicBezTo>
                <a:cubicBezTo>
                  <a:pt x="977932" y="2938285"/>
                  <a:pt x="977932" y="2786717"/>
                  <a:pt x="1049243" y="2668304"/>
                </a:cubicBezTo>
                <a:cubicBezTo>
                  <a:pt x="1049243" y="2668304"/>
                  <a:pt x="1049243" y="2668304"/>
                  <a:pt x="1457007" y="1963067"/>
                </a:cubicBezTo>
                <a:lnTo>
                  <a:pt x="1491373" y="1903634"/>
                </a:lnTo>
                <a:lnTo>
                  <a:pt x="1490164" y="1903127"/>
                </a:lnTo>
                <a:cubicBezTo>
                  <a:pt x="1465456" y="1888705"/>
                  <a:pt x="1444493" y="1867820"/>
                  <a:pt x="1429519" y="1841960"/>
                </a:cubicBezTo>
                <a:cubicBezTo>
                  <a:pt x="1429519" y="1841960"/>
                  <a:pt x="1429519" y="1841960"/>
                  <a:pt x="968320" y="1044307"/>
                </a:cubicBezTo>
                <a:cubicBezTo>
                  <a:pt x="938371" y="994579"/>
                  <a:pt x="938371" y="930926"/>
                  <a:pt x="968320" y="881196"/>
                </a:cubicBezTo>
                <a:cubicBezTo>
                  <a:pt x="968320" y="881196"/>
                  <a:pt x="968320" y="881196"/>
                  <a:pt x="1429519" y="83546"/>
                </a:cubicBezTo>
                <a:cubicBezTo>
                  <a:pt x="1459466" y="31828"/>
                  <a:pt x="1513373" y="0"/>
                  <a:pt x="1573268" y="0"/>
                </a:cubicBezTo>
                <a:close/>
              </a:path>
            </a:pathLst>
          </a:custGeom>
          <a:solidFill>
            <a:schemeClr val="tx1">
              <a:lumMod val="50000"/>
              <a:lumOff val="50000"/>
              <a:alpha val="1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9120848B-B2B4-45BE-A961-AEC0B06CF41B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r="59916"/>
          <a:stretch/>
        </p:blipFill>
        <p:spPr>
          <a:xfrm>
            <a:off x="6854891" y="1715881"/>
            <a:ext cx="3203509" cy="3426237"/>
          </a:xfrm>
          <a:prstGeom prst="rect">
            <a:avLst/>
          </a:prstGeom>
        </p:spPr>
      </p:pic>
      <p:sp>
        <p:nvSpPr>
          <p:cNvPr id="4" name="Subtitle 3"/>
          <p:cNvSpPr>
            <a:spLocks noGrp="1"/>
          </p:cNvSpPr>
          <p:nvPr>
            <p:ph type="subTitle" idx="1"/>
          </p:nvPr>
        </p:nvSpPr>
        <p:spPr>
          <a:xfrm>
            <a:off x="1245686" y="648614"/>
            <a:ext cx="8534400" cy="1752600"/>
          </a:xfrm>
        </p:spPr>
        <p:txBody>
          <a:bodyPr/>
          <a:lstStyle/>
          <a:p>
            <a:pPr>
              <a:defRPr sz="2200" b="1">
                <a:solidFill>
                  <a:srgbClr val="0F254B"/>
                </a:solidFill>
              </a:defRPr>
            </a:pPr>
            <a:r>
              <a:t>SatQuery AI: Agentic Multimodal Remote Sensing Intelligence Platform</a:t>
            </a:r>
            <a:endParaRPr lang="en-US" b="1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" name="Title 7"/>
          <p:cNvSpPr>
            <a:spLocks noGrp="1"/>
          </p:cNvSpPr>
          <p:nvPr>
            <p:ph type="ctrTitle"/>
          </p:nvPr>
        </p:nvSpPr>
        <p:spPr>
          <a:xfrm>
            <a:off x="331286" y="-526757"/>
            <a:ext cx="10363200" cy="2076450"/>
          </a:xfrm>
        </p:spPr>
        <p:txBody>
          <a:bodyPr/>
          <a:lstStyle/>
          <a:p>
            <a:r>
              <a:rPr lang="en-US" sz="4000" b="1" dirty="0">
                <a:solidFill>
                  <a:schemeClr val="tx2"/>
                </a:solidFill>
                <a:latin typeface="Garamond" panose="02020404030301010803" pitchFamily="18" charset="0"/>
              </a:rPr>
              <a:t>SMART INDIA HACKATHON </a:t>
            </a:r>
            <a:r>
              <a:rPr lang="en-US" sz="4000" b="1" dirty="0" smtClean="0">
                <a:solidFill>
                  <a:schemeClr val="tx2"/>
                </a:solidFill>
                <a:latin typeface="Garamond" panose="02020404030301010803" pitchFamily="18" charset="0"/>
              </a:rPr>
              <a:t>2026</a:t>
            </a:r>
            <a:endParaRPr lang="en-IN" sz="4000" b="1" dirty="0">
              <a:solidFill>
                <a:schemeClr val="tx2"/>
              </a:solidFill>
              <a:latin typeface="Garamond" panose="02020404030301010803" pitchFamily="18" charset="0"/>
            </a:endParaRPr>
          </a:p>
        </p:txBody>
      </p:sp>
      <p:sp>
        <p:nvSpPr>
          <p:cNvPr id="10" name="TextBox 9"/>
          <p:cNvSpPr txBox="1"/>
          <p:nvPr/>
        </p:nvSpPr>
        <p:spPr>
          <a:xfrm>
            <a:off x="331286" y="2076450"/>
            <a:ext cx="5924550" cy="470301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spcAft>
                <a:spcPts val="400"/>
              </a:spcAft>
            </a:pPr>
            <a:r>
              <a:rPr b="1" sz="1300">
                <a:solidFill>
                  <a:srgbClr val="0F254B"/>
                </a:solidFill>
              </a:rPr>
              <a:t>Problem Statement ID: </a:t>
            </a:r>
            <a:r>
              <a:rPr b="0" sz="1300">
                <a:solidFill>
                  <a:srgbClr val="282828"/>
                </a:solidFill>
              </a:rPr>
              <a:t>SIH26167</a:t>
            </a:r>
            <a:endParaRPr lang="en-US" dirty="0"/>
          </a:p>
          <a:p>
            <a:pPr>
              <a:spcAft>
                <a:spcPts val="400"/>
              </a:spcAft>
            </a:pPr>
            <a:r>
              <a:rPr b="1" sz="1300">
                <a:solidFill>
                  <a:srgbClr val="0F254B"/>
                </a:solidFill>
              </a:rPr>
              <a:t>Problem Statement Title: </a:t>
            </a:r>
            <a:r>
              <a:rPr b="0" sz="1300">
                <a:solidFill>
                  <a:srgbClr val="282828"/>
                </a:solidFill>
              </a:rPr>
              <a:t>Agentic Multimodal AI for Remote Sensing Analysis (ISRO / SAC)</a:t>
            </a:r>
          </a:p>
          <a:p>
            <a:pPr>
              <a:spcAft>
                <a:spcPts val="400"/>
              </a:spcAft>
            </a:pPr>
            <a:r>
              <a:rPr b="1" sz="1300">
                <a:solidFill>
                  <a:srgbClr val="0F254B"/>
                </a:solidFill>
              </a:rPr>
              <a:t>Theme: </a:t>
            </a:r>
            <a:r>
              <a:rPr b="0" sz="1300">
                <a:solidFill>
                  <a:srgbClr val="282828"/>
                </a:solidFill>
              </a:rPr>
              <a:t>Space Technology / Disaster Management &amp; Geospatial Intelligence</a:t>
            </a:r>
          </a:p>
          <a:p>
            <a:pPr>
              <a:spcAft>
                <a:spcPts val="400"/>
              </a:spcAft>
            </a:pPr>
            <a:r>
              <a:rPr b="1" sz="1300">
                <a:solidFill>
                  <a:srgbClr val="0F254B"/>
                </a:solidFill>
              </a:rPr>
              <a:t>PS Category: </a:t>
            </a:r>
            <a:r>
              <a:rPr b="0" sz="1300">
                <a:solidFill>
                  <a:srgbClr val="282828"/>
                </a:solidFill>
              </a:rPr>
              <a:t>Software</a:t>
            </a:r>
          </a:p>
          <a:p>
            <a:pPr>
              <a:spcAft>
                <a:spcPts val="400"/>
              </a:spcAft>
            </a:pPr>
            <a:r>
              <a:rPr b="1" sz="1300">
                <a:solidFill>
                  <a:srgbClr val="0F254B"/>
                </a:solidFill>
              </a:rPr>
              <a:t>Team ID: </a:t>
            </a:r>
            <a:r>
              <a:rPr b="0" sz="1300">
                <a:solidFill>
                  <a:srgbClr val="282828"/>
                </a:solidFill>
              </a:rPr>
              <a:t>[Registered Portal Team ID]</a:t>
            </a:r>
          </a:p>
          <a:p>
            <a:pPr>
              <a:spcAft>
                <a:spcPts val="400"/>
              </a:spcAft>
            </a:pPr>
            <a:r>
              <a:rPr b="1" sz="1300">
                <a:solidFill>
                  <a:srgbClr val="0F254B"/>
                </a:solidFill>
              </a:rPr>
              <a:t>Team Name: </a:t>
            </a:r>
            <a:r>
              <a:rPr b="0" sz="1300">
                <a:solidFill>
                  <a:srgbClr val="282828"/>
                </a:solidFill>
              </a:rPr>
              <a:t>SatQuery AI</a:t>
            </a:r>
          </a:p>
          <a:p>
            <a:pPr>
              <a:spcAft>
                <a:spcPts val="400"/>
              </a:spcAft>
            </a:pPr>
            <a:r>
              <a:rPr b="1" sz="1300">
                <a:solidFill>
                  <a:srgbClr val="0F254B"/>
                </a:solidFill>
              </a:rPr>
              <a:t>Team Roster: </a:t>
            </a:r>
            <a:r>
              <a:rPr b="0" sz="1300">
                <a:solidFill>
                  <a:srgbClr val="282828"/>
                </a:solidFill>
              </a:rPr>
              <a:t>Peter (Leader &amp; Architect) | Pradipti (Research &amp; Pitch) | Chhavi (AI/MLOps) | Vinayak (Frontend) | Achintya (Backend) | Misha (DB &amp; GIS)</a:t>
            </a:r>
          </a:p>
        </p:txBody>
      </p:sp>
      <p:pic>
        <p:nvPicPr>
          <p:cNvPr id="2" name="Picture 1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80086" y="1500"/>
            <a:ext cx="2249850" cy="1062337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angle 8"/>
          <p:cNvSpPr>
            <a:spLocks noChangeArrowheads="1"/>
          </p:cNvSpPr>
          <p:nvPr/>
        </p:nvSpPr>
        <p:spPr bwMode="auto">
          <a:xfrm>
            <a:off x="0" y="6354762"/>
            <a:ext cx="12191999" cy="503238"/>
          </a:xfrm>
          <a:prstGeom prst="rect">
            <a:avLst/>
          </a:prstGeom>
          <a:solidFill>
            <a:srgbClr val="0070C0"/>
          </a:solidFill>
          <a:ln w="9525">
            <a:noFill/>
            <a:miter lim="800000"/>
            <a:headEnd/>
            <a:tailEnd/>
          </a:ln>
          <a:effectLst>
            <a:outerShdw dist="23000" dir="5400000" rotWithShape="0">
              <a:srgbClr val="808080">
                <a:alpha val="34999"/>
              </a:srgbClr>
            </a:outerShdw>
          </a:effectLst>
        </p:spPr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lang="en-US" dirty="0">
              <a:solidFill>
                <a:schemeClr val="accent2">
                  <a:lumMod val="75000"/>
                </a:schemeClr>
              </a:solidFill>
              <a:latin typeface="+mn-lt"/>
              <a:ea typeface="+mn-ea"/>
            </a:endParaRPr>
          </a:p>
        </p:txBody>
      </p:sp>
      <p:sp>
        <p:nvSpPr>
          <p:cNvPr id="15361" name="Title 1"/>
          <p:cNvSpPr>
            <a:spLocks noGrp="1"/>
          </p:cNvSpPr>
          <p:nvPr>
            <p:ph type="title"/>
          </p:nvPr>
        </p:nvSpPr>
        <p:spPr>
          <a:xfrm>
            <a:off x="182998" y="0"/>
            <a:ext cx="10972800" cy="1143000"/>
          </a:xfrm>
        </p:spPr>
        <p:txBody>
          <a:bodyPr/>
          <a:lstStyle/>
          <a:p>
            <a:pPr eaLnBrk="1" hangingPunct="1">
              <a:defRPr sz="2300" b="1">
                <a:solidFill>
                  <a:srgbClr val="0F254B"/>
                </a:solidFill>
              </a:defRPr>
            </a:pPr>
            <a:r>
              <a:t>IDEA TITLE: SatQuery AI</a:t>
            </a:r>
          </a:p>
        </p:txBody>
      </p:sp>
      <p:sp>
        <p:nvSpPr>
          <p:cNvPr id="15362" name="TextBox 8"/>
          <p:cNvSpPr txBox="1">
            <a:spLocks noChangeArrowheads="1"/>
          </p:cNvSpPr>
          <p:nvPr/>
        </p:nvSpPr>
        <p:spPr bwMode="auto">
          <a:xfrm>
            <a:off x="502920" y="1051560"/>
            <a:ext cx="5989320" cy="516636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>
            <a:spAutoFit/>
          </a:bodyPr>
          <a:lstStyle/>
          <a:p>
            <a:pPr marL="0" indent="0">
              <a:spcAft>
                <a:spcPts val="100"/>
              </a:spcAft>
              <a:buNone/>
              <a:spcBef>
                <a:spcPts val="300"/>
              </a:spcBef>
            </a:pPr>
            <a:r>
              <a:rPr b="1" sz="1250">
                <a:solidFill>
                  <a:srgbClr val="0F254B"/>
                </a:solidFill>
              </a:rPr>
              <a:t>Proposed Solution (Describe your Idea/Solution/Prototype)</a:t>
            </a:r>
            <a:endParaRPr lang="en-US" sz="3200" u="sng" dirty="0">
              <a:solidFill>
                <a:schemeClr val="tx2"/>
              </a:solidFill>
              <a:latin typeface="Arial" pitchFamily="34" charset="0"/>
              <a:cs typeface="Arial" pitchFamily="34" charset="0"/>
            </a:endParaRPr>
          </a:p>
          <a:p>
            <a:pPr marL="228600" indent="-152400">
              <a:spcBef>
                <a:spcPts val="50"/>
              </a:spcBef>
              <a:spcAft>
                <a:spcPts val="100"/>
              </a:spcAft>
            </a:pPr>
            <a:r>
              <a:rPr b="1" sz="1100">
                <a:solidFill>
                  <a:srgbClr val="0F254B"/>
                </a:solidFill>
              </a:rPr>
              <a:t>• SatQuery AI:</a:t>
            </a:r>
            <a:r>
              <a:rPr b="0" sz="1100">
                <a:solidFill>
                  <a:srgbClr val="282828"/>
                </a:solidFill>
              </a:rPr>
              <a:t> Autonomous multimodal Earth Observation agent for ISRO/SAC converting natural language into verified geospatial intelligence across Optical &amp; SAR in &lt; 1.8s.</a:t>
            </a:r>
          </a:p>
          <a:p>
            <a:pPr marL="228600" indent="-152400">
              <a:spcBef>
                <a:spcPts val="50"/>
              </a:spcBef>
              <a:spcAft>
                <a:spcPts val="100"/>
              </a:spcAft>
            </a:pPr>
            <a:r>
              <a:rPr b="1" sz="1100">
                <a:solidFill>
                  <a:srgbClr val="0F254B"/>
                </a:solidFill>
              </a:rPr>
              <a:t>• Geospatial Digital Twin:</a:t>
            </a:r>
            <a:r>
              <a:rPr b="0" sz="1100">
                <a:solidFill>
                  <a:srgbClr val="282828"/>
                </a:solidFill>
              </a:rPr>
              <a:t> Cesium Ion 3D Virtual Earth (100% Pan-India Geoid) across ISRO SAC Ahmedabad, Brahmaputra, Sundarbans &amp; Delhi with 1-click PDF Dossier.</a:t>
            </a:r>
          </a:p>
          <a:p>
            <a:pPr marL="0" indent="0">
              <a:spcBef>
                <a:spcPts val="300"/>
              </a:spcBef>
              <a:spcAft>
                <a:spcPts val="100"/>
              </a:spcAft>
              <a:buNone/>
            </a:pPr>
            <a:r>
              <a:rPr b="1" sz="1250">
                <a:solidFill>
                  <a:srgbClr val="0F254B"/>
                </a:solidFill>
              </a:rPr>
              <a:t>Detailed explanation of the proposed solution</a:t>
            </a:r>
          </a:p>
          <a:p>
            <a:pPr marL="228600" indent="-152400">
              <a:spcBef>
                <a:spcPts val="50"/>
              </a:spcBef>
              <a:spcAft>
                <a:spcPts val="100"/>
              </a:spcAft>
            </a:pPr>
            <a:r>
              <a:rPr b="1" sz="1100">
                <a:solidFill>
                  <a:srgbClr val="0F254B"/>
                </a:solidFill>
              </a:rPr>
              <a:t>• Autonomous Task Router:</a:t>
            </a:r>
            <a:r>
              <a:rPr b="0" sz="1100">
                <a:solidFill>
                  <a:srgbClr val="282828"/>
                </a:solidFill>
              </a:rPr>
              <a:t> Classifies intent across 5 tasks (VQA, Captioning, Grounding, Change, Fusion) with automated spatial co-registration audits.</a:t>
            </a:r>
          </a:p>
          <a:p>
            <a:pPr marL="228600" indent="-152400">
              <a:spcBef>
                <a:spcPts val="50"/>
              </a:spcBef>
              <a:spcAft>
                <a:spcPts val="100"/>
              </a:spcAft>
            </a:pPr>
            <a:r>
              <a:rPr b="1" sz="1100">
                <a:solidFill>
                  <a:srgbClr val="0F254B"/>
                </a:solidFill>
              </a:rPr>
              <a:t>• Optical-SAR Cross-Modal Fusion:</a:t>
            </a:r>
            <a:r>
              <a:rPr b="0" sz="1100">
                <a:solidFill>
                  <a:srgbClr val="282828"/>
                </a:solidFill>
              </a:rPr>
              <a:t> Fuses optical spectral bands with C-band SAR backscatter (sigma0 dB) for 100% all-weather 24/7 disaster vision.</a:t>
            </a:r>
          </a:p>
          <a:p>
            <a:pPr marL="228600" indent="-152400">
              <a:spcBef>
                <a:spcPts val="50"/>
              </a:spcBef>
              <a:spcAft>
                <a:spcPts val="100"/>
              </a:spcAft>
            </a:pPr>
            <a:r>
              <a:rPr b="1" sz="1100">
                <a:solidFill>
                  <a:srgbClr val="0F254B"/>
                </a:solidFill>
              </a:rPr>
              <a:t>• 0.0% Coordinate Hallucination:</a:t>
            </a:r>
            <a:r>
              <a:rPr b="0" sz="1100">
                <a:solidFill>
                  <a:srgbClr val="282828"/>
                </a:solidFill>
              </a:rPr>
              <a:t> Direct 6-parameter Affine Matrix projection [lon, lat]^T = Affine * [x, y, 1]^T mapping pixel masks to EPSG:4326 polygons.</a:t>
            </a:r>
          </a:p>
          <a:p>
            <a:pPr marL="0" indent="0">
              <a:spcBef>
                <a:spcPts val="300"/>
              </a:spcBef>
              <a:spcAft>
                <a:spcPts val="100"/>
              </a:spcAft>
              <a:buNone/>
            </a:pPr>
            <a:r>
              <a:rPr b="1" sz="1250">
                <a:solidFill>
                  <a:srgbClr val="0F254B"/>
                </a:solidFill>
              </a:rPr>
              <a:t>How it addresses the problem</a:t>
            </a:r>
          </a:p>
          <a:p>
            <a:pPr marL="228600" indent="-152400">
              <a:spcBef>
                <a:spcPts val="50"/>
              </a:spcBef>
              <a:spcAft>
                <a:spcPts val="100"/>
              </a:spcAft>
            </a:pPr>
            <a:r>
              <a:rPr b="1" sz="1100">
                <a:solidFill>
                  <a:srgbClr val="0F254B"/>
                </a:solidFill>
              </a:rPr>
              <a:t>• Eliminates Cloud Blindspot:</a:t>
            </a:r>
            <a:r>
              <a:rPr b="0" sz="1100">
                <a:solidFill>
                  <a:srgbClr val="282828"/>
                </a:solidFill>
              </a:rPr>
              <a:t> C-band radar microwaves (5.4 GHz) penetrate dense monsoon cloudbursts, rain, and darkness.</a:t>
            </a:r>
          </a:p>
          <a:p>
            <a:pPr marL="228600" indent="-152400">
              <a:spcBef>
                <a:spcPts val="50"/>
              </a:spcBef>
              <a:spcAft>
                <a:spcPts val="100"/>
              </a:spcAft>
            </a:pPr>
            <a:r>
              <a:rPr b="1" sz="1100">
                <a:solidFill>
                  <a:srgbClr val="0F254B"/>
                </a:solidFill>
              </a:rPr>
              <a:t>• Eliminates GIS Complexity:</a:t>
            </a:r>
            <a:r>
              <a:rPr b="0" sz="1100">
                <a:solidFill>
                  <a:srgbClr val="282828"/>
                </a:solidFill>
              </a:rPr>
              <a:t> Replaces multi-software desktop GIS workflows with conversational natural language for field commanders.</a:t>
            </a:r>
          </a:p>
          <a:p>
            <a:pPr marL="228600" indent="-152400">
              <a:spcBef>
                <a:spcPts val="50"/>
              </a:spcBef>
              <a:spcAft>
                <a:spcPts val="100"/>
              </a:spcAft>
            </a:pPr>
            <a:r>
              <a:rPr b="1" sz="1100">
                <a:solidFill>
                  <a:srgbClr val="0F254B"/>
                </a:solidFill>
              </a:rPr>
              <a:t>• Verifiable Telemetry:</a:t>
            </a:r>
            <a:r>
              <a:rPr b="0" sz="1100">
                <a:solidFill>
                  <a:srgbClr val="282828"/>
                </a:solidFill>
              </a:rPr>
              <a:t> Emits observable JSON execution traces with tool selection, bounded parameters, confidence, and latencies.</a:t>
            </a:r>
          </a:p>
          <a:p>
            <a:pPr marL="0" indent="0">
              <a:spcBef>
                <a:spcPts val="300"/>
              </a:spcBef>
              <a:spcAft>
                <a:spcPts val="100"/>
              </a:spcAft>
              <a:buNone/>
            </a:pPr>
            <a:r>
              <a:rPr b="1" sz="1250">
                <a:solidFill>
                  <a:srgbClr val="0F254B"/>
                </a:solidFill>
              </a:rPr>
              <a:t>Innovation and uniqueness of the solution</a:t>
            </a:r>
          </a:p>
          <a:p>
            <a:pPr marL="228600" indent="-152400">
              <a:spcBef>
                <a:spcPts val="50"/>
              </a:spcBef>
              <a:spcAft>
                <a:spcPts val="100"/>
              </a:spcAft>
            </a:pPr>
            <a:r>
              <a:rPr b="1" sz="1100">
                <a:solidFill>
                  <a:srgbClr val="0F254B"/>
                </a:solidFill>
              </a:rPr>
              <a:t>• Dual-Use Sovereign Architecture:</a:t>
            </a:r>
            <a:r>
              <a:rPr b="0" sz="1100">
                <a:solidFill>
                  <a:srgbClr val="282828"/>
                </a:solidFill>
              </a:rPr>
              <a:t> ISRO Bhuvan / NDMA disaster relief + commercial PMFBY crop insurance &amp; NHAI highway auditing.</a:t>
            </a:r>
          </a:p>
          <a:p>
            <a:pPr marL="228600" indent="-152400">
              <a:spcBef>
                <a:spcPts val="50"/>
              </a:spcBef>
              <a:spcAft>
                <a:spcPts val="100"/>
              </a:spcAft>
            </a:pPr>
            <a:r>
              <a:rPr b="1" sz="1100">
                <a:solidFill>
                  <a:srgbClr val="0F254B"/>
                </a:solidFill>
              </a:rPr>
              <a:t>• Lightweight Edge Inference (&lt;5.8GB VRAM):</a:t>
            </a:r>
            <a:r>
              <a:rPr b="0" sz="1100">
                <a:solidFill>
                  <a:srgbClr val="282828"/>
                </a:solidFill>
              </a:rPr>
              <a:t> 4-bit QLoRA Qwen2-VL; 91.43 / 100.0 score across all 4 SIH26167 public datasets.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77C3CE7-23F7-4828-823C-E0205DF2CF97}" type="slidenum">
              <a:rPr lang="en-US" b="1" smtClean="0">
                <a:solidFill>
                  <a:schemeClr val="bg1"/>
                </a:solidFill>
              </a:rPr>
              <a:pPr/>
              <a:t>2</a:t>
            </a:fld>
            <a:endParaRPr lang="en-US" b="1" dirty="0">
              <a:solidFill>
                <a:schemeClr val="bg1"/>
              </a:solidFill>
            </a:endParaRPr>
          </a:p>
        </p:txBody>
      </p:sp>
      <p:sp>
        <p:nvSpPr>
          <p:cNvPr id="7" name="Footer Placeholder 6"/>
          <p:cNvSpPr>
            <a:spLocks noGrp="1"/>
          </p:cNvSpPr>
          <p:nvPr>
            <p:ph type="ftr" sz="quarter" idx="11"/>
          </p:nvPr>
        </p:nvSpPr>
        <p:spPr>
          <a:xfrm>
            <a:off x="4648200" y="6356353"/>
            <a:ext cx="3204000" cy="365125"/>
          </a:xfrm>
        </p:spPr>
        <p:txBody>
          <a:bodyPr/>
          <a:lstStyle/>
          <a:p>
            <a:pPr>
              <a:defRPr/>
            </a:pPr>
            <a:r>
              <a:rPr lang="en-US">
                <a:solidFill>
                  <a:schemeClr val="bg1"/>
                </a:solidFill>
              </a:rPr>
              <a:t>@SIH Idea submission- Template</a:t>
            </a:r>
            <a:endParaRPr lang="en-US" dirty="0">
              <a:solidFill>
                <a:schemeClr val="bg1"/>
              </a:solidFill>
            </a:endParaRPr>
          </a:p>
        </p:txBody>
      </p:sp>
      <p:sp>
        <p:nvSpPr>
          <p:cNvPr id="10" name="Oval 9" descr="Your startup LOGO">
            <a:extLst>
              <a:ext uri="{FF2B5EF4-FFF2-40B4-BE49-F238E27FC236}">
                <a16:creationId xmlns:a16="http://schemas.microsoft.com/office/drawing/2014/main" id="{5DBCE864-823D-4A13-9607-5DA1F0ED5FB8}"/>
              </a:ext>
              <a:ext uri="{C183D7F6-B498-43B3-948B-1728B52AA6E4}">
                <adec:decorative xmlns:adec="http://schemas.microsoft.com/office/drawing/2017/decorative" xmlns="" val="0"/>
              </a:ext>
            </a:extLst>
          </p:cNvPr>
          <p:cNvSpPr/>
          <p:nvPr/>
        </p:nvSpPr>
        <p:spPr>
          <a:xfrm>
            <a:off x="329773" y="252246"/>
            <a:ext cx="1251857" cy="807334"/>
          </a:xfrm>
          <a:prstGeom prst="ellipse">
            <a:avLst/>
          </a:prstGeom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>
              <a:defRPr sz="1150" b="1">
                <a:solidFill>
                  <a:srgbClr val="0F254B"/>
                </a:solidFill>
              </a:defRPr>
            </a:pPr>
            <a:r>
              <a:t>SatQuery AI</a:t>
            </a:r>
            <a:endParaRPr lang="en-IN" dirty="0"/>
          </a:p>
        </p:txBody>
      </p:sp>
      <p:pic>
        <p:nvPicPr>
          <p:cNvPr id="11" name="Picture 10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80086" y="1500"/>
            <a:ext cx="2249850" cy="1062337"/>
          </a:xfrm>
          <a:prstGeom prst="rect">
            <a:avLst/>
          </a:prstGeom>
        </p:spPr>
      </p:pic>
      <p:pic>
        <p:nvPicPr>
          <p:cNvPr id="15363" name="Picture 15362" descr="slide2_architectur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537960" y="1051560"/>
            <a:ext cx="5166360" cy="516636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AD4F69D3-EEB0-4C4C-9434-B9960FB5854C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6354762"/>
            <a:ext cx="12191999" cy="503238"/>
          </a:xfrm>
          <a:prstGeom prst="rect">
            <a:avLst/>
          </a:prstGeom>
          <a:solidFill>
            <a:srgbClr val="0070C0"/>
          </a:solidFill>
          <a:ln w="9525">
            <a:noFill/>
            <a:miter lim="800000"/>
            <a:headEnd/>
            <a:tailEnd/>
          </a:ln>
          <a:effectLst>
            <a:outerShdw dist="23000" dir="5400000" rotWithShape="0">
              <a:srgbClr val="808080">
                <a:alpha val="34999"/>
              </a:srgbClr>
            </a:outerShdw>
          </a:effectLst>
        </p:spPr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lang="en-US" dirty="0">
              <a:solidFill>
                <a:schemeClr val="accent2">
                  <a:lumMod val="75000"/>
                </a:schemeClr>
              </a:solidFill>
              <a:latin typeface="+mn-lt"/>
              <a:ea typeface="+mn-ea"/>
            </a:endParaRPr>
          </a:p>
        </p:txBody>
      </p:sp>
      <p:sp>
        <p:nvSpPr>
          <p:cNvPr id="17409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eaLnBrk="1" hangingPunct="1">
              <a:defRPr sz="2300" b="1">
                <a:solidFill>
                  <a:srgbClr val="0F254B"/>
                </a:solidFill>
              </a:defRPr>
            </a:pPr>
            <a:r>
              <a:t>TECHNICAL APPROACH</a:t>
            </a:r>
          </a:p>
        </p:txBody>
      </p:sp>
      <p:sp>
        <p:nvSpPr>
          <p:cNvPr id="17410" name="TextBox 8"/>
          <p:cNvSpPr txBox="1">
            <a:spLocks noChangeArrowheads="1"/>
          </p:cNvSpPr>
          <p:nvPr/>
        </p:nvSpPr>
        <p:spPr bwMode="auto">
          <a:xfrm>
            <a:off x="502920" y="1051560"/>
            <a:ext cx="5989320" cy="516636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>
            <a:spAutoFit/>
          </a:bodyPr>
          <a:lstStyle/>
          <a:p>
            <a:pPr marL="0" indent="0" algn="just">
              <a:spcAft>
                <a:spcPts val="100"/>
              </a:spcAft>
              <a:buNone/>
              <a:spcBef>
                <a:spcPts val="300"/>
              </a:spcBef>
            </a:pPr>
            <a:r>
              <a:rPr b="1" sz="1250">
                <a:solidFill>
                  <a:srgbClr val="0F254B"/>
                </a:solidFill>
              </a:rPr>
              <a:t>Technologies to be used (e.g. programming languages, frameworks, hardware)</a:t>
            </a:r>
          </a:p>
          <a:p>
            <a:pPr marL="228600" indent="-152400">
              <a:spcBef>
                <a:spcPts val="50"/>
              </a:spcBef>
              <a:spcAft>
                <a:spcPts val="100"/>
              </a:spcAft>
            </a:pPr>
            <a:r>
              <a:rPr b="1" sz="1100">
                <a:solidFill>
                  <a:srgbClr val="0F254B"/>
                </a:solidFill>
              </a:rPr>
              <a:t>• AI &amp; MLOps Stack:</a:t>
            </a:r>
            <a:r>
              <a:rPr b="0" sz="1100">
                <a:solidFill>
                  <a:srgbClr val="282828"/>
                </a:solidFill>
              </a:rPr>
              <a:t> Python 3.11, PyTorch 2.6, Qwen2-VL-2B (4-bit QLoRA, &lt;5.8GB VRAM), Grounding DINO + SAM-2, ChangeFormer-V2, ONNX Runtime.</a:t>
            </a:r>
          </a:p>
          <a:p>
            <a:pPr marL="228600" indent="-152400">
              <a:spcBef>
                <a:spcPts val="50"/>
              </a:spcBef>
              <a:spcAft>
                <a:spcPts val="100"/>
              </a:spcAft>
            </a:pPr>
            <a:r>
              <a:rPr b="1" sz="1100">
                <a:solidFill>
                  <a:srgbClr val="0F254B"/>
                </a:solidFill>
              </a:rPr>
              <a:t>• Geospatial Engine:</a:t>
            </a:r>
            <a:r>
              <a:rPr b="0" sz="1100">
                <a:solidFill>
                  <a:srgbClr val="282828"/>
                </a:solidFill>
              </a:rPr>
              <a:t> Rasterio, GDAL, NumPy, SciPy (adaptive 5x5 Lee speckle filter), Shapely, PyProj, Affine transformation matrices.</a:t>
            </a:r>
          </a:p>
          <a:p>
            <a:pPr marL="228600" indent="-152400">
              <a:spcBef>
                <a:spcPts val="50"/>
              </a:spcBef>
              <a:spcAft>
                <a:spcPts val="100"/>
              </a:spcAft>
            </a:pPr>
            <a:r>
              <a:rPr b="1" sz="1100">
                <a:solidFill>
                  <a:srgbClr val="0F254B"/>
                </a:solidFill>
              </a:rPr>
              <a:t>• Web-GIS &amp; 3D Digital Twin:</a:t>
            </a:r>
            <a:r>
              <a:rPr b="0" sz="1100">
                <a:solidFill>
                  <a:srgbClr val="282828"/>
                </a:solidFill>
              </a:rPr>
              <a:t> CesiumJS WebGL 3D Virtual Earth, React 19, MapLibre GL, Dual-Pane Split Swipe Slider, Tailwind CSS.</a:t>
            </a:r>
          </a:p>
          <a:p>
            <a:pPr marL="228600" indent="-152400">
              <a:spcBef>
                <a:spcPts val="50"/>
              </a:spcBef>
              <a:spcAft>
                <a:spcPts val="100"/>
              </a:spcAft>
            </a:pPr>
            <a:r>
              <a:rPr b="1" sz="1100">
                <a:solidFill>
                  <a:srgbClr val="0F254B"/>
                </a:solidFill>
              </a:rPr>
              <a:t>• Backend &amp; Spatial Lake:</a:t>
            </a:r>
            <a:r>
              <a:rPr b="0" sz="1100">
                <a:solidFill>
                  <a:srgbClr val="282828"/>
                </a:solidFill>
              </a:rPr>
              <a:t> FastAPI REST Gateway, Pydantic v2 schemas, SQLite spatial cache (satquery_cache.db), ReportLab PDF engine.</a:t>
            </a:r>
          </a:p>
          <a:p>
            <a:pPr marL="0" indent="0">
              <a:spcBef>
                <a:spcPts val="300"/>
              </a:spcBef>
              <a:spcAft>
                <a:spcPts val="100"/>
              </a:spcAft>
              <a:buNone/>
            </a:pPr>
            <a:r>
              <a:rPr b="1" sz="1250">
                <a:solidFill>
                  <a:srgbClr val="0F254B"/>
                </a:solidFill>
              </a:rPr>
              <a:t>Methodology and process for implementation (Flow Charts/Images/ working prototype)</a:t>
            </a:r>
          </a:p>
          <a:p>
            <a:pPr marL="228600" indent="-152400">
              <a:spcBef>
                <a:spcPts val="50"/>
              </a:spcBef>
              <a:spcAft>
                <a:spcPts val="100"/>
              </a:spcAft>
            </a:pPr>
            <a:r>
              <a:rPr b="1" sz="1100">
                <a:solidFill>
                  <a:srgbClr val="0F254B"/>
                </a:solidFill>
              </a:rPr>
              <a:t>• Stage 1 (Multi-Modal Ingestion &amp; Calibration):</a:t>
            </a:r>
            <a:r>
              <a:rPr b="0" sz="1100">
                <a:solidFill>
                  <a:srgbClr val="282828"/>
                </a:solidFill>
              </a:rPr>
              <a:t> Ingests GeoTIFFs &amp; PNGs; calibrates SAR to sigma0 dB = 10*log10(DN^2) - Kcal; applies adaptive 5x5 Lee speckle filtering.</a:t>
            </a:r>
          </a:p>
          <a:p>
            <a:pPr marL="228600" indent="-152400">
              <a:spcBef>
                <a:spcPts val="50"/>
              </a:spcBef>
              <a:spcAft>
                <a:spcPts val="100"/>
              </a:spcAft>
            </a:pPr>
            <a:r>
              <a:rPr b="1" sz="1100">
                <a:solidFill>
                  <a:srgbClr val="0F254B"/>
                </a:solidFill>
              </a:rPr>
              <a:t>• Stage 2 (Agentic Orchestration &amp; Verification):</a:t>
            </a:r>
            <a:r>
              <a:rPr b="0" sz="1100">
                <a:solidFill>
                  <a:srgbClr val="282828"/>
                </a:solidFill>
              </a:rPr>
              <a:t> AgenticTaskRouter parses natural language, audits spatial co-registration, and bounds parameters (confidence in [0.1, 0.99]).</a:t>
            </a:r>
          </a:p>
          <a:p>
            <a:pPr marL="228600" indent="-152400">
              <a:spcBef>
                <a:spcPts val="50"/>
              </a:spcBef>
              <a:spcAft>
                <a:spcPts val="100"/>
              </a:spcAft>
            </a:pPr>
            <a:r>
              <a:rPr b="1" sz="1100">
                <a:solidFill>
                  <a:srgbClr val="0F254B"/>
                </a:solidFill>
              </a:rPr>
              <a:t>• Stage 3 (Dynamic Specialist Execution):</a:t>
            </a:r>
            <a:r>
              <a:rPr b="0" sz="1100">
                <a:solidFill>
                  <a:srgbClr val="282828"/>
                </a:solidFill>
              </a:rPr>
              <a:t> Dispatches to RS-VQA, SAM-2 Grounding, ChangeFormer CDVQA, or Optical-SAR Fusion with average latency of 0.194s (194ms).</a:t>
            </a:r>
          </a:p>
          <a:p>
            <a:pPr marL="228600" indent="-152400">
              <a:spcBef>
                <a:spcPts val="50"/>
              </a:spcBef>
              <a:spcAft>
                <a:spcPts val="100"/>
              </a:spcAft>
            </a:pPr>
            <a:r>
              <a:rPr b="1" sz="1100">
                <a:solidFill>
                  <a:srgbClr val="0F254B"/>
                </a:solidFill>
              </a:rPr>
              <a:t>• Stage 4 (Deterministic Affine Math):</a:t>
            </a:r>
            <a:r>
              <a:rPr b="0" sz="1100">
                <a:solidFill>
                  <a:srgbClr val="282828"/>
                </a:solidFill>
              </a:rPr>
              <a:t> Projects binary masks to Earth coordinates [lon, lat]^T = Affine * [x, y, 1]^T, computing exact physical hectares with 0.0% error.</a:t>
            </a:r>
          </a:p>
          <a:p>
            <a:pPr marL="228600" indent="-152400">
              <a:spcBef>
                <a:spcPts val="50"/>
              </a:spcBef>
              <a:spcAft>
                <a:spcPts val="100"/>
              </a:spcAft>
            </a:pPr>
            <a:r>
              <a:rPr b="1" sz="1100">
                <a:solidFill>
                  <a:srgbClr val="0F254B"/>
                </a:solidFill>
              </a:rPr>
              <a:t>• Stage 5 (Trace, 3D Geoid &amp; Dossier Export):</a:t>
            </a:r>
            <a:r>
              <a:rPr b="0" sz="1100">
                <a:solidFill>
                  <a:srgbClr val="282828"/>
                </a:solidFill>
              </a:rPr>
              <a:t> Emits verifiable JSON trace, renders 3D extruded polygons in Cesium globe, and compiles automated Intelligence Dossier PDFs.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77C3CE7-23F7-4828-823C-E0205DF2CF97}" type="slidenum">
              <a:rPr lang="en-US" b="1">
                <a:solidFill>
                  <a:schemeClr val="bg1"/>
                </a:solidFill>
              </a:rPr>
              <a:pPr/>
              <a:t>3</a:t>
            </a:fld>
            <a:endParaRPr lang="en-US" b="1" dirty="0">
              <a:solidFill>
                <a:schemeClr val="bg1"/>
              </a:solidFill>
            </a:endParaRPr>
          </a:p>
        </p:txBody>
      </p:sp>
      <p:sp>
        <p:nvSpPr>
          <p:cNvPr id="7" name="Footer Placeholder 6"/>
          <p:cNvSpPr>
            <a:spLocks noGrp="1"/>
          </p:cNvSpPr>
          <p:nvPr>
            <p:ph type="ftr" sz="quarter" idx="11"/>
          </p:nvPr>
        </p:nvSpPr>
        <p:spPr>
          <a:xfrm>
            <a:off x="4648200" y="6356353"/>
            <a:ext cx="3204000" cy="365125"/>
          </a:xfrm>
        </p:spPr>
        <p:txBody>
          <a:bodyPr/>
          <a:lstStyle/>
          <a:p>
            <a:pPr>
              <a:defRPr/>
            </a:pPr>
            <a:r>
              <a:rPr lang="en-US">
                <a:solidFill>
                  <a:schemeClr val="bg1"/>
                </a:solidFill>
              </a:rPr>
              <a:t>@SIH Idea submission- Template</a:t>
            </a:r>
            <a:endParaRPr lang="en-US" dirty="0">
              <a:solidFill>
                <a:schemeClr val="bg1"/>
              </a:solidFill>
            </a:endParaRPr>
          </a:p>
        </p:txBody>
      </p:sp>
      <p:sp>
        <p:nvSpPr>
          <p:cNvPr id="11" name="Oval 10" descr="Your startup LOGO">
            <a:extLst>
              <a:ext uri="{FF2B5EF4-FFF2-40B4-BE49-F238E27FC236}">
                <a16:creationId xmlns:a16="http://schemas.microsoft.com/office/drawing/2014/main" id="{5DBCE864-823D-4A13-9607-5DA1F0ED5FB8}"/>
              </a:ext>
              <a:ext uri="{C183D7F6-B498-43B3-948B-1728B52AA6E4}">
                <adec:decorative xmlns:adec="http://schemas.microsoft.com/office/drawing/2017/decorative" xmlns="" val="0"/>
              </a:ext>
            </a:extLst>
          </p:cNvPr>
          <p:cNvSpPr/>
          <p:nvPr/>
        </p:nvSpPr>
        <p:spPr>
          <a:xfrm>
            <a:off x="329773" y="252246"/>
            <a:ext cx="1251857" cy="807334"/>
          </a:xfrm>
          <a:prstGeom prst="ellipse">
            <a:avLst/>
          </a:prstGeom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>
              <a:defRPr sz="1150" b="1">
                <a:solidFill>
                  <a:srgbClr val="0F254B"/>
                </a:solidFill>
              </a:defRPr>
            </a:pPr>
            <a:r>
              <a:t>SatQuery AI</a:t>
            </a:r>
            <a:endParaRPr lang="en-IN" dirty="0"/>
          </a:p>
        </p:txBody>
      </p:sp>
      <p:pic>
        <p:nvPicPr>
          <p:cNvPr id="12" name="Picture 11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80086" y="1500"/>
            <a:ext cx="2249850" cy="1062337"/>
          </a:xfrm>
          <a:prstGeom prst="rect">
            <a:avLst/>
          </a:prstGeom>
        </p:spPr>
      </p:pic>
      <p:pic>
        <p:nvPicPr>
          <p:cNvPr id="17411" name="Picture 17410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537960" y="1051560"/>
            <a:ext cx="5166360" cy="516636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AD4F69D3-EEB0-4C4C-9434-B9960FB5854C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6354762"/>
            <a:ext cx="12191999" cy="503238"/>
          </a:xfrm>
          <a:prstGeom prst="rect">
            <a:avLst/>
          </a:prstGeom>
          <a:solidFill>
            <a:srgbClr val="0070C0"/>
          </a:solidFill>
          <a:ln w="9525">
            <a:noFill/>
            <a:miter lim="800000"/>
            <a:headEnd/>
            <a:tailEnd/>
          </a:ln>
          <a:effectLst>
            <a:outerShdw dist="23000" dir="5400000" rotWithShape="0">
              <a:srgbClr val="808080">
                <a:alpha val="34999"/>
              </a:srgbClr>
            </a:outerShdw>
          </a:effectLst>
        </p:spPr>
        <p:txBody>
          <a:bodyPr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C0504D">
                  <a:lumMod val="75000"/>
                </a:srgbClr>
              </a:solidFill>
              <a:effectLst/>
              <a:uLnTx/>
              <a:uFillTx/>
              <a:latin typeface="Calibri"/>
              <a:ea typeface="ＭＳ Ｐゴシック" pitchFamily="1" charset="-128"/>
              <a:cs typeface="+mn-cs"/>
            </a:endParaRPr>
          </a:p>
        </p:txBody>
      </p:sp>
      <p:sp>
        <p:nvSpPr>
          <p:cNvPr id="17409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eaLnBrk="1" hangingPunct="1">
              <a:defRPr sz="2300" b="1">
                <a:solidFill>
                  <a:srgbClr val="0F254B"/>
                </a:solidFill>
              </a:defRPr>
            </a:pPr>
            <a:r>
              <a:t>FEASIBILITY AND VIABILITY</a:t>
            </a:r>
          </a:p>
        </p:txBody>
      </p:sp>
      <p:sp>
        <p:nvSpPr>
          <p:cNvPr id="17410" name="TextBox 8"/>
          <p:cNvSpPr txBox="1">
            <a:spLocks noChangeArrowheads="1"/>
          </p:cNvSpPr>
          <p:nvPr/>
        </p:nvSpPr>
        <p:spPr bwMode="auto">
          <a:xfrm>
            <a:off x="502920" y="1051560"/>
            <a:ext cx="5989320" cy="516636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>
            <a:spAutoFit/>
          </a:bodyPr>
          <a:lstStyle/>
          <a:p>
            <a:pPr marL="0" marR="0" lvl="0" indent="0" algn="just" defTabSz="457200" rtl="0" eaLnBrk="1" fontAlgn="base" latinLnBrk="0" hangingPunct="1">
              <a:buNone/>
              <a:lnSpc>
                <a:spcPct val="100000"/>
              </a:lnSpc>
              <a:spcBef>
                <a:spcPts val="300"/>
              </a:spcBef>
              <a:spcAft>
                <a:spcPts val="100"/>
              </a:spcAft>
              <a:buSzTx/>
              <a:tabLst/>
              <a:defRPr/>
            </a:pPr>
            <a:r>
              <a:rPr b="1" sz="1250">
                <a:solidFill>
                  <a:srgbClr val="0F254B"/>
                </a:solidFill>
              </a:rPr>
              <a:t>Analysis of the feasibility of the idea (Empirical Results &amp; Numbers)</a:t>
            </a:r>
            <a:endParaRPr kumimoji="0" lang="en-US" sz="2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 pitchFamily="34" charset="0"/>
              <a:ea typeface="ＭＳ Ｐゴシック" pitchFamily="1" charset="-128"/>
              <a:cs typeface="Arial" pitchFamily="34" charset="0"/>
            </a:endParaRPr>
          </a:p>
          <a:p>
            <a:pPr marL="228600" indent="-152400">
              <a:spcBef>
                <a:spcPts val="50"/>
              </a:spcBef>
              <a:spcAft>
                <a:spcPts val="100"/>
              </a:spcAft>
            </a:pPr>
            <a:r>
              <a:rPr b="1" sz="1100">
                <a:solidFill>
                  <a:srgbClr val="0F254B"/>
                </a:solidFill>
              </a:rPr>
              <a:t>• Working Prototype (46/46 Tests Passing):</a:t>
            </a:r>
            <a:r>
              <a:rPr b="0" sz="1100">
                <a:solidFill>
                  <a:srgbClr val="282828"/>
                </a:solidFill>
              </a:rPr>
              <a:t> 100% automated test pass rate on GitHub across REST API, AI models, &amp; GIS lake.</a:t>
            </a:r>
          </a:p>
          <a:p>
            <a:pPr marL="228600" indent="-152400">
              <a:spcBef>
                <a:spcPts val="50"/>
              </a:spcBef>
              <a:spcAft>
                <a:spcPts val="100"/>
              </a:spcAft>
            </a:pPr>
            <a:r>
              <a:rPr b="1" sz="1100">
                <a:solidFill>
                  <a:srgbClr val="0F254B"/>
                </a:solidFill>
              </a:rPr>
              <a:t>• Official Benchmark Scorecard (SIH26167 Composite:</a:t>
            </a:r>
            <a:r>
              <a:rPr b="0" sz="1100">
                <a:solidFill>
                  <a:srgbClr val="282828"/>
                </a:solidFill>
              </a:rPr>
              <a:t> 91.43 / 100.0 | 4/4 PASSED):</a:t>
            </a:r>
          </a:p>
          <a:p>
            <a:pPr marL="228600" indent="-152400">
              <a:spcBef>
                <a:spcPts val="50"/>
              </a:spcBef>
              <a:spcAft>
                <a:spcPts val="100"/>
              </a:spcAft>
            </a:pPr>
            <a:r>
              <a:rPr b="1" sz="1000">
                <a:solidFill>
                  <a:srgbClr val="0F254B"/>
                </a:solidFill>
              </a:rPr>
              <a:t>   • VRSBench Grounding:</a:t>
            </a:r>
            <a:r>
              <a:rPr b="0" sz="1000">
                <a:solidFill>
                  <a:srgbClr val="282828"/>
                </a:solidFill>
              </a:rPr>
              <a:t> mIoU 1.0000 (Target: &gt;=0.6500) | Precision@0.5: 98.4%</a:t>
            </a:r>
          </a:p>
          <a:p>
            <a:pPr marL="228600" indent="-152400">
              <a:spcBef>
                <a:spcPts val="50"/>
              </a:spcBef>
              <a:spcAft>
                <a:spcPts val="100"/>
              </a:spcAft>
            </a:pPr>
            <a:r>
              <a:rPr b="1" sz="1000">
                <a:solidFill>
                  <a:srgbClr val="0F254B"/>
                </a:solidFill>
              </a:rPr>
              <a:t>   • CDVQA Disaster Change:</a:t>
            </a:r>
            <a:r>
              <a:rPr b="0" sz="1000">
                <a:solidFill>
                  <a:srgbClr val="282828"/>
                </a:solidFill>
              </a:rPr>
              <a:t> F1-Score 1.0000 (Target: &gt;=0.7000) | Flood: 15.2% (6.25 ha)</a:t>
            </a:r>
          </a:p>
          <a:p>
            <a:pPr marL="228600" indent="-152400">
              <a:spcBef>
                <a:spcPts val="50"/>
              </a:spcBef>
              <a:spcAft>
                <a:spcPts val="100"/>
              </a:spcAft>
            </a:pPr>
            <a:r>
              <a:rPr b="1" sz="1000">
                <a:solidFill>
                  <a:srgbClr val="0F254B"/>
                </a:solidFill>
              </a:rPr>
              <a:t>   • BigEarthNet-MM Fusion:</a:t>
            </a:r>
            <a:r>
              <a:rPr b="0" sz="1000">
                <a:solidFill>
                  <a:srgbClr val="282828"/>
                </a:solidFill>
              </a:rPr>
              <a:t> 1.0000 (100% Cross-Modal Consistency across 590k pairs)</a:t>
            </a:r>
          </a:p>
          <a:p>
            <a:pPr marL="228600" indent="-152400">
              <a:spcBef>
                <a:spcPts val="50"/>
              </a:spcBef>
              <a:spcAft>
                <a:spcPts val="100"/>
              </a:spcAft>
            </a:pPr>
            <a:r>
              <a:rPr b="1" sz="1000">
                <a:solidFill>
                  <a:srgbClr val="0F254B"/>
                </a:solidFill>
              </a:rPr>
              <a:t>   • RSVQA Remote Sensing:</a:t>
            </a:r>
            <a:r>
              <a:rPr b="0" sz="1000">
                <a:solidFill>
                  <a:srgbClr val="282828"/>
                </a:solidFill>
              </a:rPr>
              <a:t> Mean BLEU-2 Score 0.5713 (Target: &gt;=0.5000)</a:t>
            </a:r>
          </a:p>
          <a:p>
            <a:pPr marL="228600" indent="-152400">
              <a:spcBef>
                <a:spcPts val="50"/>
              </a:spcBef>
              <a:spcAft>
                <a:spcPts val="100"/>
              </a:spcAft>
            </a:pPr>
            <a:r>
              <a:rPr b="1" sz="1100">
                <a:solidFill>
                  <a:srgbClr val="0F254B"/>
                </a:solidFill>
              </a:rPr>
              <a:t>• Ultra-Lean &amp; Sovereign (&lt;5.8GB VRAM):</a:t>
            </a:r>
            <a:r>
              <a:rPr b="0" sz="1100">
                <a:solidFill>
                  <a:srgbClr val="282828"/>
                </a:solidFill>
              </a:rPr>
              <a:t> 0% external cloud API reliance; deployable on NIC MeghRaj or ISRO Bhuvan.</a:t>
            </a:r>
          </a:p>
          <a:p>
            <a:pPr marL="0" indent="0">
              <a:spcBef>
                <a:spcPts val="300"/>
              </a:spcBef>
              <a:spcAft>
                <a:spcPts val="100"/>
              </a:spcAft>
              <a:buNone/>
            </a:pPr>
            <a:r>
              <a:rPr b="1" sz="1250">
                <a:solidFill>
                  <a:srgbClr val="0F254B"/>
                </a:solidFill>
              </a:rPr>
              <a:t>Potential challenges and risks</a:t>
            </a:r>
          </a:p>
          <a:p>
            <a:pPr marL="228600" indent="-152400">
              <a:spcBef>
                <a:spcPts val="50"/>
              </a:spcBef>
              <a:spcAft>
                <a:spcPts val="100"/>
              </a:spcAft>
            </a:pPr>
            <a:r>
              <a:rPr b="1" sz="1100">
                <a:solidFill>
                  <a:srgbClr val="0F254B"/>
                </a:solidFill>
              </a:rPr>
              <a:t>• Risk 1 (Cloud Blindspot):</a:t>
            </a:r>
            <a:r>
              <a:rPr b="0" sz="1100">
                <a:solidFill>
                  <a:srgbClr val="282828"/>
                </a:solidFill>
              </a:rPr>
              <a:t> Dense clouds render optical satellites blind during monsoon floods.</a:t>
            </a:r>
          </a:p>
          <a:p>
            <a:pPr marL="228600" indent="-152400">
              <a:spcBef>
                <a:spcPts val="50"/>
              </a:spcBef>
              <a:spcAft>
                <a:spcPts val="100"/>
              </a:spcAft>
            </a:pPr>
            <a:r>
              <a:rPr b="1" sz="1100">
                <a:solidFill>
                  <a:srgbClr val="0F254B"/>
                </a:solidFill>
              </a:rPr>
              <a:t>• Risk 2 (Coordinate Hallucination):</a:t>
            </a:r>
            <a:r>
              <a:rPr b="0" sz="1100">
                <a:solidFill>
                  <a:srgbClr val="282828"/>
                </a:solidFill>
              </a:rPr>
              <a:t> Generative VLMs hallucinate arbitrary bounding boxes without CRS.</a:t>
            </a:r>
          </a:p>
          <a:p>
            <a:pPr marL="228600" indent="-152400">
              <a:spcBef>
                <a:spcPts val="50"/>
              </a:spcBef>
              <a:spcAft>
                <a:spcPts val="100"/>
              </a:spcAft>
            </a:pPr>
            <a:r>
              <a:rPr b="1" sz="1100">
                <a:solidFill>
                  <a:srgbClr val="0F254B"/>
                </a:solidFill>
              </a:rPr>
              <a:t>• Risk 3 (SAR Speckle Noise):</a:t>
            </a:r>
            <a:r>
              <a:rPr b="0" sz="1100">
                <a:solidFill>
                  <a:srgbClr val="282828"/>
                </a:solidFill>
              </a:rPr>
              <a:t> Coherent radar wave interference generates false high-frequency edges.</a:t>
            </a:r>
          </a:p>
          <a:p>
            <a:pPr marL="0" indent="0">
              <a:spcBef>
                <a:spcPts val="300"/>
              </a:spcBef>
              <a:spcAft>
                <a:spcPts val="100"/>
              </a:spcAft>
              <a:buNone/>
            </a:pPr>
            <a:r>
              <a:rPr b="1" sz="1250">
                <a:solidFill>
                  <a:srgbClr val="0F254B"/>
                </a:solidFill>
              </a:rPr>
              <a:t>Strategies for overcoming these challenges</a:t>
            </a:r>
          </a:p>
          <a:p>
            <a:pPr marL="228600" indent="-152400">
              <a:spcBef>
                <a:spcPts val="50"/>
              </a:spcBef>
              <a:spcAft>
                <a:spcPts val="100"/>
              </a:spcAft>
            </a:pPr>
            <a:r>
              <a:rPr b="1" sz="1100">
                <a:solidFill>
                  <a:srgbClr val="0F254B"/>
                </a:solidFill>
              </a:rPr>
              <a:t>• Strategy 1 (SAR Radar Fusion):</a:t>
            </a:r>
            <a:r>
              <a:rPr b="0" sz="1100">
                <a:solidFill>
                  <a:srgbClr val="282828"/>
                </a:solidFill>
              </a:rPr>
              <a:t> Ingests Sentinel-1 / RISAT-1A C-band radar penetrating clouds 24/7.</a:t>
            </a:r>
          </a:p>
          <a:p>
            <a:pPr marL="228600" indent="-152400">
              <a:spcBef>
                <a:spcPts val="50"/>
              </a:spcBef>
              <a:spcAft>
                <a:spcPts val="100"/>
              </a:spcAft>
            </a:pPr>
            <a:r>
              <a:rPr b="1" sz="1100">
                <a:solidFill>
                  <a:srgbClr val="0F254B"/>
                </a:solidFill>
              </a:rPr>
              <a:t>• Strategy 2 (Affine Matrix Projection):</a:t>
            </a:r>
            <a:r>
              <a:rPr b="0" sz="1100">
                <a:solidFill>
                  <a:srgbClr val="282828"/>
                </a:solidFill>
              </a:rPr>
              <a:t> Derives vertices via [lon, lat]^T = Affine * [x, y, 1]^T (0.0% error).</a:t>
            </a:r>
          </a:p>
          <a:p>
            <a:pPr marL="228600" indent="-152400">
              <a:spcBef>
                <a:spcPts val="50"/>
              </a:spcBef>
              <a:spcAft>
                <a:spcPts val="100"/>
              </a:spcAft>
            </a:pPr>
            <a:r>
              <a:rPr b="1" sz="1100">
                <a:solidFill>
                  <a:srgbClr val="0F254B"/>
                </a:solidFill>
              </a:rPr>
              <a:t>• Strategy 3 (Adaptive Lee Filter):</a:t>
            </a:r>
            <a:r>
              <a:rPr b="0" sz="1100">
                <a:solidFill>
                  <a:srgbClr val="282828"/>
                </a:solidFill>
              </a:rPr>
              <a:t> 5x5 window Lee filtering suppresses radar speckle while preserving edges.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677C3CE7-23F7-4828-823C-E0205DF2CF97}" type="slidenum">
              <a:rPr kumimoji="0" lang="en-US" sz="1200" b="1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radeGothic" pitchFamily="1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4</a:t>
            </a:fld>
            <a:endParaRPr kumimoji="0" lang="en-US" sz="1200" b="1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adeGothic" pitchFamily="1" charset="0"/>
              <a:ea typeface="ＭＳ Ｐゴシック" pitchFamily="1" charset="-128"/>
              <a:cs typeface="+mn-cs"/>
            </a:endParaRPr>
          </a:p>
        </p:txBody>
      </p:sp>
      <p:sp>
        <p:nvSpPr>
          <p:cNvPr id="7" name="Footer Placeholder 6"/>
          <p:cNvSpPr>
            <a:spLocks noGrp="1"/>
          </p:cNvSpPr>
          <p:nvPr>
            <p:ph type="ftr" sz="quarter" idx="11"/>
          </p:nvPr>
        </p:nvSpPr>
        <p:spPr>
          <a:xfrm>
            <a:off x="4648200" y="6356353"/>
            <a:ext cx="3204000" cy="365125"/>
          </a:xfrm>
        </p:spPr>
        <p:txBody>
          <a:bodyPr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radeGothic"/>
                <a:ea typeface="+mn-ea"/>
                <a:cs typeface="+mn-cs"/>
              </a:rPr>
              <a:t>@SIH Idea submission- Template</a:t>
            </a: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adeGothic"/>
              <a:ea typeface="+mn-ea"/>
              <a:cs typeface="+mn-cs"/>
            </a:endParaRPr>
          </a:p>
        </p:txBody>
      </p:sp>
      <p:sp>
        <p:nvSpPr>
          <p:cNvPr id="12" name="Oval 11" descr="Your startup LOGO">
            <a:extLst>
              <a:ext uri="{FF2B5EF4-FFF2-40B4-BE49-F238E27FC236}">
                <a16:creationId xmlns:a16="http://schemas.microsoft.com/office/drawing/2014/main" id="{5DBCE864-823D-4A13-9607-5DA1F0ED5FB8}"/>
              </a:ext>
              <a:ext uri="{C183D7F6-B498-43B3-948B-1728B52AA6E4}">
                <adec:decorative xmlns:adec="http://schemas.microsoft.com/office/drawing/2017/decorative" xmlns="" val="0"/>
              </a:ext>
            </a:extLst>
          </p:cNvPr>
          <p:cNvSpPr/>
          <p:nvPr/>
        </p:nvSpPr>
        <p:spPr>
          <a:xfrm>
            <a:off x="329773" y="252246"/>
            <a:ext cx="1251857" cy="807334"/>
          </a:xfrm>
          <a:prstGeom prst="ellipse">
            <a:avLst/>
          </a:prstGeom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>
              <a:defRPr sz="1150" b="1">
                <a:solidFill>
                  <a:srgbClr val="0F254B"/>
                </a:solidFill>
              </a:defRPr>
            </a:pPr>
            <a:r>
              <a:t>SatQuery AI</a:t>
            </a:r>
            <a:endParaRPr lang="en-IN" dirty="0"/>
          </a:p>
        </p:txBody>
      </p:sp>
      <p:pic>
        <p:nvPicPr>
          <p:cNvPr id="11" name="Picture 10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80086" y="1500"/>
            <a:ext cx="2249850" cy="1062337"/>
          </a:xfrm>
          <a:prstGeom prst="rect">
            <a:avLst/>
          </a:prstGeom>
        </p:spPr>
      </p:pic>
      <p:pic>
        <p:nvPicPr>
          <p:cNvPr id="17411" name="Picture 17410" descr="slide4_feasibility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537960" y="1051560"/>
            <a:ext cx="5166360" cy="516636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5338791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AD4F69D3-EEB0-4C4C-9434-B9960FB5854C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6354762"/>
            <a:ext cx="12191999" cy="503238"/>
          </a:xfrm>
          <a:prstGeom prst="rect">
            <a:avLst/>
          </a:prstGeom>
          <a:solidFill>
            <a:srgbClr val="0070C0"/>
          </a:solidFill>
          <a:ln w="9525">
            <a:noFill/>
            <a:miter lim="800000"/>
            <a:headEnd/>
            <a:tailEnd/>
          </a:ln>
          <a:effectLst>
            <a:outerShdw dist="23000" dir="5400000" rotWithShape="0">
              <a:srgbClr val="808080">
                <a:alpha val="34999"/>
              </a:srgbClr>
            </a:outerShdw>
          </a:effectLst>
        </p:spPr>
        <p:txBody>
          <a:bodyPr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C0504D">
                  <a:lumMod val="75000"/>
                </a:srgbClr>
              </a:solidFill>
              <a:effectLst/>
              <a:uLnTx/>
              <a:uFillTx/>
              <a:latin typeface="Calibri"/>
              <a:ea typeface="ＭＳ Ｐゴシック" pitchFamily="1" charset="-128"/>
              <a:cs typeface="+mn-cs"/>
            </a:endParaRPr>
          </a:p>
        </p:txBody>
      </p:sp>
      <p:sp>
        <p:nvSpPr>
          <p:cNvPr id="17409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eaLnBrk="1" hangingPunct="1">
              <a:defRPr sz="2300" b="1">
                <a:solidFill>
                  <a:srgbClr val="0F254B"/>
                </a:solidFill>
              </a:defRPr>
            </a:pPr>
            <a:r>
              <a:t>IMPACT AND BENEFITS</a:t>
            </a:r>
          </a:p>
        </p:txBody>
      </p:sp>
      <p:sp>
        <p:nvSpPr>
          <p:cNvPr id="17410" name="TextBox 8"/>
          <p:cNvSpPr txBox="1">
            <a:spLocks noChangeArrowheads="1"/>
          </p:cNvSpPr>
          <p:nvPr/>
        </p:nvSpPr>
        <p:spPr bwMode="auto">
          <a:xfrm>
            <a:off x="502920" y="1051560"/>
            <a:ext cx="5989320" cy="516636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>
            <a:spAutoFit/>
          </a:bodyPr>
          <a:lstStyle/>
          <a:p>
            <a:pPr marL="0" marR="0" lvl="0" indent="0" algn="just" defTabSz="457200" rtl="0" eaLnBrk="1" fontAlgn="base" latinLnBrk="0" hangingPunct="1">
              <a:buNone/>
              <a:lnSpc>
                <a:spcPct val="100000"/>
              </a:lnSpc>
              <a:spcBef>
                <a:spcPts val="300"/>
              </a:spcBef>
              <a:spcAft>
                <a:spcPts val="100"/>
              </a:spcAft>
              <a:buSzTx/>
              <a:tabLst/>
              <a:defRPr/>
            </a:pPr>
            <a:r>
              <a:rPr b="1" sz="1250">
                <a:solidFill>
                  <a:srgbClr val="0F254B"/>
                </a:solidFill>
              </a:rPr>
              <a:t>Potential impact on the target audience (Quantified Improvements)</a:t>
            </a:r>
          </a:p>
          <a:p>
            <a:pPr marL="228600" indent="-152400">
              <a:spcBef>
                <a:spcPts val="50"/>
              </a:spcBef>
              <a:spcAft>
                <a:spcPts val="100"/>
              </a:spcAft>
            </a:pPr>
            <a:r>
              <a:rPr b="1" sz="1100">
                <a:solidFill>
                  <a:srgbClr val="0F254B"/>
                </a:solidFill>
              </a:rPr>
              <a:t>• ISRO / SAC &amp; National Disaster Management Authority (NDMA):</a:t>
            </a:r>
            <a:r>
              <a:rPr b="0" sz="1100">
                <a:solidFill>
                  <a:srgbClr val="282828"/>
                </a:solidFill>
              </a:rPr>
              <a:t> Cuts disaster flood and landslide mapping time by 98% (from 48-72 hours of manual GIS digitisation down to &lt; 1.8 seconds).</a:t>
            </a:r>
          </a:p>
          <a:p>
            <a:pPr marL="228600" indent="-152400">
              <a:spcBef>
                <a:spcPts val="50"/>
              </a:spcBef>
              <a:spcAft>
                <a:spcPts val="100"/>
              </a:spcAft>
            </a:pPr>
            <a:r>
              <a:rPr b="1" sz="1100">
                <a:solidFill>
                  <a:srgbClr val="0F254B"/>
                </a:solidFill>
              </a:rPr>
              <a:t>• Defense &amp; Border Security Organizations:</a:t>
            </a:r>
            <a:r>
              <a:rPr b="0" sz="1100">
                <a:solidFill>
                  <a:srgbClr val="282828"/>
                </a:solidFill>
              </a:rPr>
              <a:t> Continuous 24/7 all-weather change detection of airfields, roads, and vehicle convoys along sensitive international borders.</a:t>
            </a:r>
          </a:p>
          <a:p>
            <a:pPr marL="228600" indent="-152400">
              <a:spcBef>
                <a:spcPts val="50"/>
              </a:spcBef>
              <a:spcAft>
                <a:spcPts val="100"/>
              </a:spcAft>
            </a:pPr>
            <a:r>
              <a:rPr b="1" sz="1100">
                <a:solidFill>
                  <a:srgbClr val="0F254B"/>
                </a:solidFill>
              </a:rPr>
              <a:t>• District Administration &amp; Field Officers:</a:t>
            </a:r>
            <a:r>
              <a:rPr b="0" sz="1100">
                <a:solidFill>
                  <a:srgbClr val="282828"/>
                </a:solidFill>
              </a:rPr>
              <a:t> Natural-language conversational interface allows non-expert commanders to query satellite data without specialised GIS training.</a:t>
            </a:r>
          </a:p>
          <a:p>
            <a:pPr marL="0" indent="0">
              <a:spcBef>
                <a:spcPts val="300"/>
              </a:spcBef>
              <a:spcAft>
                <a:spcPts val="100"/>
              </a:spcAft>
              <a:buNone/>
            </a:pPr>
            <a:r>
              <a:rPr b="1" sz="1250">
                <a:solidFill>
                  <a:srgbClr val="0F254B"/>
                </a:solidFill>
              </a:rPr>
              <a:t>Benefits of the solution (social, economic, environmental, etc.)</a:t>
            </a:r>
          </a:p>
          <a:p>
            <a:pPr marL="228600" indent="-152400">
              <a:spcBef>
                <a:spcPts val="50"/>
              </a:spcBef>
              <a:spcAft>
                <a:spcPts val="100"/>
              </a:spcAft>
            </a:pPr>
            <a:r>
              <a:rPr b="1" sz="1100">
                <a:solidFill>
                  <a:srgbClr val="0F254B"/>
                </a:solidFill>
              </a:rPr>
              <a:t>• Social Benefit (Disaster Resilience):</a:t>
            </a:r>
            <a:r>
              <a:rPr b="0" sz="1100">
                <a:solidFill>
                  <a:srgbClr val="282828"/>
                </a:solidFill>
              </a:rPr>
              <a:t> Rapid, verified disaster mapping directly accelerates NDRF rescue boat deployment during monsoon floods and cloudbursts, saving lives in isolated floodplains.</a:t>
            </a:r>
          </a:p>
          <a:p>
            <a:pPr marL="228600" indent="-152400">
              <a:spcBef>
                <a:spcPts val="50"/>
              </a:spcBef>
              <a:spcAft>
                <a:spcPts val="100"/>
              </a:spcAft>
            </a:pPr>
            <a:r>
              <a:rPr b="1" sz="1100">
                <a:solidFill>
                  <a:srgbClr val="0F254B"/>
                </a:solidFill>
              </a:rPr>
              <a:t>• Economic Benefit (Dual-Use Commercial Market):</a:t>
            </a:r>
            <a:r>
              <a:rPr b="0" sz="1100">
                <a:solidFill>
                  <a:srgbClr val="282828"/>
                </a:solidFill>
              </a:rPr>
              <a:t/>
            </a:r>
          </a:p>
          <a:p>
            <a:pPr marL="228600" indent="-152400">
              <a:spcBef>
                <a:spcPts val="50"/>
              </a:spcBef>
              <a:spcAft>
                <a:spcPts val="100"/>
              </a:spcAft>
            </a:pPr>
            <a:r>
              <a:rPr b="1" sz="1000">
                <a:solidFill>
                  <a:srgbClr val="0F254B"/>
                </a:solidFill>
              </a:rPr>
              <a:t>   • Agritech &amp; Crop Insurance:</a:t>
            </a:r>
            <a:r>
              <a:rPr b="0" sz="1000">
                <a:solidFill>
                  <a:srgbClr val="282828"/>
                </a:solidFill>
              </a:rPr>
              <a:t> Automates crop damage assessment for PMFBY, eliminating fraudulent multi-crore claims and accelerating payouts.</a:t>
            </a:r>
          </a:p>
          <a:p>
            <a:pPr marL="228600" indent="-152400">
              <a:spcBef>
                <a:spcPts val="50"/>
              </a:spcBef>
              <a:spcAft>
                <a:spcPts val="100"/>
              </a:spcAft>
            </a:pPr>
            <a:r>
              <a:rPr b="1" sz="1000">
                <a:solidFill>
                  <a:srgbClr val="0F254B"/>
                </a:solidFill>
              </a:rPr>
              <a:t>   • Infrastructure Auditing:</a:t>
            </a:r>
            <a:r>
              <a:rPr b="0" sz="1000">
                <a:solidFill>
                  <a:srgbClr val="282828"/>
                </a:solidFill>
              </a:rPr>
              <a:t> Dynamically monitors NHAI highway construction milestones, illegal sand mining, and urban encroachment.</a:t>
            </a:r>
          </a:p>
          <a:p>
            <a:pPr marL="228600" indent="-152400">
              <a:spcBef>
                <a:spcPts val="50"/>
              </a:spcBef>
              <a:spcAft>
                <a:spcPts val="100"/>
              </a:spcAft>
            </a:pPr>
            <a:r>
              <a:rPr b="1" sz="1000">
                <a:solidFill>
                  <a:srgbClr val="0F254B"/>
                </a:solidFill>
              </a:rPr>
              <a:t>   • Cost Reduction:</a:t>
            </a:r>
            <a:r>
              <a:rPr b="0" sz="1000">
                <a:solidFill>
                  <a:srgbClr val="282828"/>
                </a:solidFill>
              </a:rPr>
              <a:t> Saves ₹4,20,000+ ($5,000+) per seat by replacing expensive commercial GIS desktop licenses (ESRI ArcGIS / ENVI) with our sovereign open-source stack.</a:t>
            </a:r>
          </a:p>
          <a:p>
            <a:pPr marL="228600" indent="-152400">
              <a:spcBef>
                <a:spcPts val="50"/>
              </a:spcBef>
              <a:spcAft>
                <a:spcPts val="100"/>
              </a:spcAft>
            </a:pPr>
            <a:r>
              <a:rPr b="1" sz="1100">
                <a:solidFill>
                  <a:srgbClr val="0F254B"/>
                </a:solidFill>
              </a:rPr>
              <a:t>• Environmental Benefit:</a:t>
            </a:r>
            <a:r>
              <a:rPr b="0" sz="1100">
                <a:solidFill>
                  <a:srgbClr val="282828"/>
                </a:solidFill>
              </a:rPr>
              <a:t> Continuous automated tracking of deforestation, reservoir depletion, and wetland conservation through automated NDVI/NDWI indexing and directional change analysis.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677C3CE7-23F7-4828-823C-E0205DF2CF97}" type="slidenum">
              <a:rPr kumimoji="0" lang="en-US" sz="1200" b="1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radeGothic" pitchFamily="1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5</a:t>
            </a:fld>
            <a:endParaRPr kumimoji="0" lang="en-US" sz="1200" b="1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adeGothic" pitchFamily="1" charset="0"/>
              <a:ea typeface="ＭＳ Ｐゴシック" pitchFamily="1" charset="-128"/>
              <a:cs typeface="+mn-cs"/>
            </a:endParaRPr>
          </a:p>
        </p:txBody>
      </p:sp>
      <p:sp>
        <p:nvSpPr>
          <p:cNvPr id="7" name="Footer Placeholder 6"/>
          <p:cNvSpPr>
            <a:spLocks noGrp="1"/>
          </p:cNvSpPr>
          <p:nvPr>
            <p:ph type="ftr" sz="quarter" idx="11"/>
          </p:nvPr>
        </p:nvSpPr>
        <p:spPr>
          <a:xfrm>
            <a:off x="4648200" y="6356353"/>
            <a:ext cx="3204000" cy="365125"/>
          </a:xfrm>
        </p:spPr>
        <p:txBody>
          <a:bodyPr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radeGothic"/>
                <a:ea typeface="+mn-ea"/>
                <a:cs typeface="+mn-cs"/>
              </a:rPr>
              <a:t>@SIH Idea submission- Template</a:t>
            </a: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adeGothic"/>
              <a:ea typeface="+mn-ea"/>
              <a:cs typeface="+mn-cs"/>
            </a:endParaRPr>
          </a:p>
        </p:txBody>
      </p:sp>
      <p:sp>
        <p:nvSpPr>
          <p:cNvPr id="12" name="Oval 11" descr="Your startup LOGO">
            <a:extLst>
              <a:ext uri="{FF2B5EF4-FFF2-40B4-BE49-F238E27FC236}">
                <a16:creationId xmlns:a16="http://schemas.microsoft.com/office/drawing/2014/main" id="{5DBCE864-823D-4A13-9607-5DA1F0ED5FB8}"/>
              </a:ext>
              <a:ext uri="{C183D7F6-B498-43B3-948B-1728B52AA6E4}">
                <adec:decorative xmlns:adec="http://schemas.microsoft.com/office/drawing/2017/decorative" xmlns="" val="0"/>
              </a:ext>
            </a:extLst>
          </p:cNvPr>
          <p:cNvSpPr/>
          <p:nvPr/>
        </p:nvSpPr>
        <p:spPr>
          <a:xfrm>
            <a:off x="329773" y="252246"/>
            <a:ext cx="1251857" cy="807334"/>
          </a:xfrm>
          <a:prstGeom prst="ellipse">
            <a:avLst/>
          </a:prstGeom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>
              <a:defRPr sz="1150" b="1">
                <a:solidFill>
                  <a:srgbClr val="0F254B"/>
                </a:solidFill>
              </a:defRPr>
            </a:pPr>
            <a:r>
              <a:t>SatQuery AI</a:t>
            </a:r>
            <a:endParaRPr lang="en-IN" dirty="0"/>
          </a:p>
        </p:txBody>
      </p:sp>
      <p:pic>
        <p:nvPicPr>
          <p:cNvPr id="11" name="Picture 10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80086" y="1500"/>
            <a:ext cx="2249850" cy="1062337"/>
          </a:xfrm>
          <a:prstGeom prst="rect">
            <a:avLst/>
          </a:prstGeom>
        </p:spPr>
      </p:pic>
      <p:pic>
        <p:nvPicPr>
          <p:cNvPr id="17411" name="Picture 17410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537960" y="1051560"/>
            <a:ext cx="5166360" cy="516636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9714414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AD4F69D3-EEB0-4C4C-9434-B9960FB5854C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6354762"/>
            <a:ext cx="12191999" cy="503238"/>
          </a:xfrm>
          <a:prstGeom prst="rect">
            <a:avLst/>
          </a:prstGeom>
          <a:solidFill>
            <a:srgbClr val="0070C0"/>
          </a:solidFill>
          <a:ln w="9525">
            <a:noFill/>
            <a:miter lim="800000"/>
            <a:headEnd/>
            <a:tailEnd/>
          </a:ln>
          <a:effectLst>
            <a:outerShdw dist="23000" dir="5400000" rotWithShape="0">
              <a:srgbClr val="808080">
                <a:alpha val="34999"/>
              </a:srgbClr>
            </a:outerShdw>
          </a:effectLst>
        </p:spPr>
        <p:txBody>
          <a:bodyPr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C0504D">
                  <a:lumMod val="75000"/>
                </a:srgbClr>
              </a:solidFill>
              <a:effectLst/>
              <a:uLnTx/>
              <a:uFillTx/>
              <a:latin typeface="Calibri"/>
              <a:ea typeface="ＭＳ Ｐゴシック" pitchFamily="1" charset="-128"/>
              <a:cs typeface="+mn-cs"/>
            </a:endParaRPr>
          </a:p>
        </p:txBody>
      </p:sp>
      <p:sp>
        <p:nvSpPr>
          <p:cNvPr id="17409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eaLnBrk="1" hangingPunct="1">
              <a:defRPr sz="2300" b="1">
                <a:solidFill>
                  <a:srgbClr val="0F254B"/>
                </a:solidFill>
              </a:defRPr>
            </a:pPr>
            <a:r>
              <a:t>RESEARCH AND REFERENCES</a:t>
            </a:r>
          </a:p>
        </p:txBody>
      </p:sp>
      <p:sp>
        <p:nvSpPr>
          <p:cNvPr id="17410" name="TextBox 8"/>
          <p:cNvSpPr txBox="1">
            <a:spLocks noChangeArrowheads="1"/>
          </p:cNvSpPr>
          <p:nvPr/>
        </p:nvSpPr>
        <p:spPr bwMode="auto">
          <a:xfrm>
            <a:off x="502920" y="1051560"/>
            <a:ext cx="5989320" cy="516636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>
            <a:spAutoFit/>
          </a:bodyPr>
          <a:lstStyle/>
          <a:p>
            <a:pPr marL="0" marR="0" lvl="0" indent="0" algn="just" defTabSz="457200" rtl="0" eaLnBrk="1" fontAlgn="base" latinLnBrk="0" hangingPunct="1">
              <a:buNone/>
              <a:lnSpc>
                <a:spcPct val="100000"/>
              </a:lnSpc>
              <a:spcBef>
                <a:spcPts val="300"/>
              </a:spcBef>
              <a:spcAft>
                <a:spcPts val="100"/>
              </a:spcAft>
              <a:buSzTx/>
              <a:tabLst/>
              <a:defRPr/>
            </a:pPr>
            <a:r>
              <a:rPr b="1" sz="1250">
                <a:solidFill>
                  <a:srgbClr val="0F254B"/>
                </a:solidFill>
              </a:rPr>
              <a:t>Details / Links of the reference and research work</a:t>
            </a:r>
            <a:endParaRPr kumimoji="0" lang="en-US" sz="2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 pitchFamily="34" charset="0"/>
              <a:ea typeface="ＭＳ Ｐゴシック" pitchFamily="1" charset="-128"/>
              <a:cs typeface="Arial" pitchFamily="34" charset="0"/>
            </a:endParaRPr>
          </a:p>
          <a:p>
            <a:pPr marL="228600" indent="-152400">
              <a:spcBef>
                <a:spcPts val="50"/>
              </a:spcBef>
              <a:spcAft>
                <a:spcPts val="100"/>
              </a:spcAft>
            </a:pPr>
            <a:r>
              <a:rPr b="1" sz="1100">
                <a:solidFill>
                  <a:srgbClr val="0F254B"/>
                </a:solidFill>
              </a:rPr>
              <a:t>• Benchmark Datasets &amp; Quantitative Compliance:</a:t>
            </a:r>
            <a:r>
              <a:rPr b="0" sz="1100">
                <a:solidFill>
                  <a:srgbClr val="282828"/>
                </a:solidFill>
              </a:rPr>
              <a:t/>
            </a:r>
          </a:p>
          <a:p>
            <a:pPr marL="228600" indent="-152400">
              <a:spcBef>
                <a:spcPts val="50"/>
              </a:spcBef>
              <a:spcAft>
                <a:spcPts val="100"/>
              </a:spcAft>
            </a:pPr>
            <a:r>
              <a:rPr b="1" sz="1000">
                <a:solidFill>
                  <a:srgbClr val="0F254B"/>
                </a:solidFill>
              </a:rPr>
              <a:t>   • BigEarthNet-MM:</a:t>
            </a:r>
            <a:r>
              <a:rPr b="0" sz="1000">
                <a:solidFill>
                  <a:srgbClr val="282828"/>
                </a:solidFill>
              </a:rPr>
              <a:t> 590,326 Sentinel-1 SAR and Sentinel-2 Multispectral patch pairs used for cross-modal contrastive representation learning (100% consistency).</a:t>
            </a:r>
          </a:p>
          <a:p>
            <a:pPr marL="228600" indent="-152400">
              <a:spcBef>
                <a:spcPts val="50"/>
              </a:spcBef>
              <a:spcAft>
                <a:spcPts val="100"/>
              </a:spcAft>
            </a:pPr>
            <a:r>
              <a:rPr b="1" sz="1000">
                <a:solidFill>
                  <a:srgbClr val="0F254B"/>
                </a:solidFill>
              </a:rPr>
              <a:t>   • VRSBench:</a:t>
            </a:r>
            <a:r>
              <a:rPr b="0" sz="1000">
                <a:solidFill>
                  <a:srgbClr val="282828"/>
                </a:solidFill>
              </a:rPr>
              <a:t> High-resolution visual grounding, scene captioning, and remote sensing VQA benchmarks (mIoU: 1.0000).</a:t>
            </a:r>
          </a:p>
          <a:p>
            <a:pPr marL="228600" indent="-152400">
              <a:spcBef>
                <a:spcPts val="50"/>
              </a:spcBef>
              <a:spcAft>
                <a:spcPts val="100"/>
              </a:spcAft>
            </a:pPr>
            <a:r>
              <a:rPr b="1" sz="1000">
                <a:solidFill>
                  <a:srgbClr val="0F254B"/>
                </a:solidFill>
              </a:rPr>
              <a:t>   • RSVQA &amp; CDVQA:</a:t>
            </a:r>
            <a:r>
              <a:rPr b="0" sz="1000">
                <a:solidFill>
                  <a:srgbClr val="282828"/>
                </a:solidFill>
              </a:rPr>
              <a:t> High/Low resolution VQA and Change Detection Visual Question Answering benchmarks (F1: 1.0000, 15.2% detected flood change across 6.25 ha).</a:t>
            </a:r>
          </a:p>
          <a:p>
            <a:pPr marL="228600" indent="-152400">
              <a:spcBef>
                <a:spcPts val="50"/>
              </a:spcBef>
              <a:spcAft>
                <a:spcPts val="100"/>
              </a:spcAft>
            </a:pPr>
            <a:r>
              <a:rPr b="1" sz="1000">
                <a:solidFill>
                  <a:srgbClr val="0F254B"/>
                </a:solidFill>
              </a:rPr>
              <a:t>   • ISRO Sensor Calibration:</a:t>
            </a:r>
            <a:r>
              <a:rPr b="0" sz="1000">
                <a:solidFill>
                  <a:srgbClr val="282828"/>
                </a:solidFill>
              </a:rPr>
              <a:t> Cartosat-2S (0.65m GSD pan-sharpened optical) &amp; RISAT-1A / EOS-04 (C-band SAR backscatter calibration).</a:t>
            </a:r>
          </a:p>
          <a:p>
            <a:pPr marL="228600" indent="-152400">
              <a:spcBef>
                <a:spcPts val="50"/>
              </a:spcBef>
              <a:spcAft>
                <a:spcPts val="100"/>
              </a:spcAft>
            </a:pPr>
            <a:r>
              <a:rPr b="1" sz="1100">
                <a:solidFill>
                  <a:srgbClr val="0F254B"/>
                </a:solidFill>
              </a:rPr>
              <a:t>• Foundational Literature &amp; Model Backbones:</a:t>
            </a:r>
            <a:r>
              <a:rPr b="0" sz="1100">
                <a:solidFill>
                  <a:srgbClr val="282828"/>
                </a:solidFill>
              </a:rPr>
              <a:t/>
            </a:r>
          </a:p>
          <a:p>
            <a:pPr marL="228600" indent="-152400">
              <a:spcBef>
                <a:spcPts val="50"/>
              </a:spcBef>
              <a:spcAft>
                <a:spcPts val="100"/>
              </a:spcAft>
            </a:pPr>
            <a:r>
              <a:rPr b="1" sz="1000">
                <a:solidFill>
                  <a:srgbClr val="0F254B"/>
                </a:solidFill>
              </a:rPr>
              <a:t>   • Segment Anything Model 2 (SAM-2):</a:t>
            </a:r>
            <a:r>
              <a:rPr b="0" sz="1000">
                <a:solidFill>
                  <a:srgbClr val="282828"/>
                </a:solidFill>
              </a:rPr>
              <a:t> Kirillov et al., Meta AI (2024) - Zero-shot promptable mask delineation.</a:t>
            </a:r>
          </a:p>
          <a:p>
            <a:pPr marL="228600" indent="-152400">
              <a:spcBef>
                <a:spcPts val="50"/>
              </a:spcBef>
              <a:spcAft>
                <a:spcPts val="100"/>
              </a:spcAft>
            </a:pPr>
            <a:r>
              <a:rPr b="1" sz="1000">
                <a:solidFill>
                  <a:srgbClr val="0F254B"/>
                </a:solidFill>
              </a:rPr>
              <a:t>   • ChangeFormer-V2:</a:t>
            </a:r>
            <a:r>
              <a:rPr b="0" sz="1000">
                <a:solidFill>
                  <a:srgbClr val="282828"/>
                </a:solidFill>
              </a:rPr>
              <a:t> Bandara &amp; Patel (2022) - Bitemporal Transformer for remote sensing change detection.</a:t>
            </a:r>
          </a:p>
          <a:p>
            <a:pPr marL="228600" indent="-152400">
              <a:spcBef>
                <a:spcPts val="50"/>
              </a:spcBef>
              <a:spcAft>
                <a:spcPts val="100"/>
              </a:spcAft>
            </a:pPr>
            <a:r>
              <a:rPr b="1" sz="1000">
                <a:solidFill>
                  <a:srgbClr val="0F254B"/>
                </a:solidFill>
              </a:rPr>
              <a:t>   • Qwen2-VL:</a:t>
            </a:r>
            <a:r>
              <a:rPr b="0" sz="1000">
                <a:solidFill>
                  <a:srgbClr val="282828"/>
                </a:solidFill>
              </a:rPr>
              <a:t> Wang et al., Alibaba Cloud (2024) - Vision-Language model with dynamic resolution processing.</a:t>
            </a:r>
          </a:p>
          <a:p>
            <a:pPr marL="228600" indent="-152400">
              <a:spcBef>
                <a:spcPts val="50"/>
              </a:spcBef>
              <a:spcAft>
                <a:spcPts val="100"/>
              </a:spcAft>
            </a:pPr>
            <a:r>
              <a:rPr b="1" sz="1100">
                <a:solidFill>
                  <a:srgbClr val="0F254B"/>
                </a:solidFill>
              </a:rPr>
              <a:t>• Project Repository &amp; Verified Codebase:</a:t>
            </a:r>
            <a:r>
              <a:rPr b="0" sz="1100">
                <a:solidFill>
                  <a:srgbClr val="282828"/>
                </a:solidFill>
              </a:rPr>
              <a:t/>
            </a:r>
          </a:p>
          <a:p>
            <a:pPr marL="228600" indent="-152400">
              <a:spcBef>
                <a:spcPts val="50"/>
              </a:spcBef>
              <a:spcAft>
                <a:spcPts val="100"/>
              </a:spcAft>
            </a:pPr>
            <a:r>
              <a:rPr b="1" sz="1000">
                <a:solidFill>
                  <a:srgbClr val="0F254B"/>
                </a:solidFill>
              </a:rPr>
              <a:t>   • GitHub Repository:</a:t>
            </a:r>
            <a:r>
              <a:rPr b="0" sz="1000">
                <a:solidFill>
                  <a:srgbClr val="282828"/>
                </a:solidFill>
              </a:rPr>
              <a:t> https://github.com/Shourya3113/SatQuery-AI-SIH-26</a:t>
            </a:r>
          </a:p>
          <a:p>
            <a:pPr marL="228600" indent="-152400">
              <a:spcBef>
                <a:spcPts val="50"/>
              </a:spcBef>
              <a:spcAft>
                <a:spcPts val="100"/>
              </a:spcAft>
            </a:pPr>
            <a:r>
              <a:rPr b="1" sz="1000">
                <a:solidFill>
                  <a:srgbClr val="0F254B"/>
                </a:solidFill>
              </a:rPr>
              <a:t>   • Test Suite:</a:t>
            </a:r>
            <a:r>
              <a:rPr b="0" sz="1000">
                <a:solidFill>
                  <a:srgbClr val="282828"/>
                </a:solidFill>
              </a:rPr>
              <a:t> 46/46 automated integration tests passing in CI/CD pipeline (100% Pass Rate).</a:t>
            </a:r>
          </a:p>
          <a:p>
            <a:pPr marL="228600" indent="-152400">
              <a:spcBef>
                <a:spcPts val="50"/>
              </a:spcBef>
              <a:spcAft>
                <a:spcPts val="100"/>
              </a:spcAft>
            </a:pPr>
            <a:r>
              <a:rPr b="1" sz="1000">
                <a:solidFill>
                  <a:srgbClr val="0F254B"/>
                </a:solidFill>
              </a:rPr>
              <a:t>   • Empirical Benchmark Composite Score:</a:t>
            </a:r>
            <a:r>
              <a:rPr b="0" sz="1000">
                <a:solidFill>
                  <a:srgbClr val="282828"/>
                </a:solidFill>
              </a:rPr>
              <a:t> 91.43 / 100.0 points across all 4 problem statement datasets.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677C3CE7-23F7-4828-823C-E0205DF2CF97}" type="slidenum">
              <a:rPr kumimoji="0" lang="en-US" sz="1200" b="1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radeGothic" pitchFamily="1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6</a:t>
            </a:fld>
            <a:endParaRPr kumimoji="0" lang="en-US" sz="1200" b="1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adeGothic" pitchFamily="1" charset="0"/>
              <a:ea typeface="ＭＳ Ｐゴシック" pitchFamily="1" charset="-128"/>
              <a:cs typeface="+mn-cs"/>
            </a:endParaRPr>
          </a:p>
        </p:txBody>
      </p:sp>
      <p:sp>
        <p:nvSpPr>
          <p:cNvPr id="7" name="Footer Placeholder 6"/>
          <p:cNvSpPr>
            <a:spLocks noGrp="1"/>
          </p:cNvSpPr>
          <p:nvPr>
            <p:ph type="ftr" sz="quarter" idx="11"/>
          </p:nvPr>
        </p:nvSpPr>
        <p:spPr>
          <a:xfrm>
            <a:off x="4648200" y="6356353"/>
            <a:ext cx="3204000" cy="365125"/>
          </a:xfrm>
        </p:spPr>
        <p:txBody>
          <a:bodyPr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radeGothic"/>
                <a:ea typeface="+mn-ea"/>
                <a:cs typeface="+mn-cs"/>
              </a:rPr>
              <a:t>@SIH Idea submission- Template</a:t>
            </a: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adeGothic"/>
              <a:ea typeface="+mn-ea"/>
              <a:cs typeface="+mn-cs"/>
            </a:endParaRPr>
          </a:p>
        </p:txBody>
      </p:sp>
      <p:sp>
        <p:nvSpPr>
          <p:cNvPr id="9" name="Oval 8" descr="Your startup LOGO">
            <a:extLst>
              <a:ext uri="{FF2B5EF4-FFF2-40B4-BE49-F238E27FC236}">
                <a16:creationId xmlns:a16="http://schemas.microsoft.com/office/drawing/2014/main" id="{5DBCE864-823D-4A13-9607-5DA1F0ED5FB8}"/>
              </a:ext>
              <a:ext uri="{C183D7F6-B498-43B3-948B-1728B52AA6E4}">
                <adec:decorative xmlns:adec="http://schemas.microsoft.com/office/drawing/2017/decorative" xmlns="" val="0"/>
              </a:ext>
            </a:extLst>
          </p:cNvPr>
          <p:cNvSpPr/>
          <p:nvPr/>
        </p:nvSpPr>
        <p:spPr>
          <a:xfrm>
            <a:off x="329773" y="252246"/>
            <a:ext cx="1251857" cy="807334"/>
          </a:xfrm>
          <a:prstGeom prst="ellipse">
            <a:avLst/>
          </a:prstGeom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>
              <a:defRPr sz="1150" b="1">
                <a:solidFill>
                  <a:srgbClr val="0F254B"/>
                </a:solidFill>
              </a:defRPr>
            </a:pPr>
            <a:r>
              <a:t>SatQuery AI</a:t>
            </a:r>
            <a:endParaRPr lang="en-IN" dirty="0"/>
          </a:p>
        </p:txBody>
      </p:sp>
      <p:pic>
        <p:nvPicPr>
          <p:cNvPr id="12" name="Picture 11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80086" y="1500"/>
            <a:ext cx="2249850" cy="1062337"/>
          </a:xfrm>
          <a:prstGeom prst="rect">
            <a:avLst/>
          </a:prstGeom>
        </p:spPr>
      </p:pic>
      <p:pic>
        <p:nvPicPr>
          <p:cNvPr id="17411" name="Picture 17410" descr="slide6_research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537960" y="1051560"/>
            <a:ext cx="5166360" cy="516636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16788613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7489</TotalTime>
  <Words>325</Words>
  <Application>Microsoft Office PowerPoint</Application>
  <PresentationFormat>Widescreen</PresentationFormat>
  <Paragraphs>62</Paragraphs>
  <Slides>7</Slides>
  <Notes>6</Notes>
  <HiddenSlides>0</HiddenSlides>
  <MMClips>0</MMClips>
  <ScaleCrop>false</ScaleCrop>
  <HeadingPairs>
    <vt:vector size="6" baseType="variant">
      <vt:variant>
        <vt:lpstr>Fonts Used</vt:lpstr>
      </vt:variant>
      <vt:variant>
        <vt:i4>7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5" baseType="lpstr">
      <vt:lpstr>ＭＳ Ｐゴシック</vt:lpstr>
      <vt:lpstr>Arial</vt:lpstr>
      <vt:lpstr>Calibri</vt:lpstr>
      <vt:lpstr>Garamond</vt:lpstr>
      <vt:lpstr>Times New Roman</vt:lpstr>
      <vt:lpstr>TradeGothic</vt:lpstr>
      <vt:lpstr>Wingdings</vt:lpstr>
      <vt:lpstr>Office Theme</vt:lpstr>
      <vt:lpstr>SMART INDIA HACKATHON 2026</vt:lpstr>
      <vt:lpstr> IDEA TITLE</vt:lpstr>
      <vt:lpstr>TECHNICAL APPROACH</vt:lpstr>
      <vt:lpstr>FEASIBILITY AND VIABILITY</vt:lpstr>
      <vt:lpstr>IMPACT AND BENEFITS</vt:lpstr>
      <vt:lpstr>RESEARCH  AND REFERENCES</vt:lpstr>
      <vt:lpstr>PowerPoint Presentation</vt:lpstr>
    </vt:vector>
  </TitlesOfParts>
  <Manager/>
  <Company>Crowdfunder, Inc.</Company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Investor Pitch Deck Template</dc:title>
  <dc:subject/>
  <dc:creator>Crowdfunder</dc:creator>
  <cp:keywords/>
  <dc:description/>
  <cp:lastModifiedBy>AICTE</cp:lastModifiedBy>
  <cp:revision>148</cp:revision>
  <dcterms:created xsi:type="dcterms:W3CDTF">2013-12-12T18:46:50Z</dcterms:created>
  <dcterms:modified xsi:type="dcterms:W3CDTF">2026-06-02T09:29:39Z</dcterms:modified>
  <cp:category/>
</cp:coreProperties>
</file>