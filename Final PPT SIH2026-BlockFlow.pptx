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ak Garg" userId="9e10a2103ba57f5c" providerId="LiveId" clId="{AA7493DE-E2C8-49A2-A1A4-932DAF2ADBA3}"/>
    <pc:docChg chg="modSld">
      <pc:chgData name="Vinayak Garg" userId="9e10a2103ba57f5c" providerId="LiveId" clId="{AA7493DE-E2C8-49A2-A1A4-932DAF2ADBA3}" dt="2026-09-06T17:34:01.704" v="108" actId="20577"/>
      <pc:docMkLst>
        <pc:docMk/>
      </pc:docMkLst>
      <pc:sldChg chg="modSp mod">
        <pc:chgData name="Vinayak Garg" userId="9e10a2103ba57f5c" providerId="LiveId" clId="{AA7493DE-E2C8-49A2-A1A4-932DAF2ADBA3}" dt="2026-09-06T17:29:14.939" v="48" actId="14100"/>
        <pc:sldMkLst>
          <pc:docMk/>
          <pc:sldMk cId="0" sldId="281"/>
        </pc:sldMkLst>
        <pc:spChg chg="mod">
          <ac:chgData name="Vinayak Garg" userId="9e10a2103ba57f5c" providerId="LiveId" clId="{AA7493DE-E2C8-49A2-A1A4-932DAF2ADBA3}" dt="2026-09-06T17:27:26.178" v="35" actId="1076"/>
          <ac:spMkLst>
            <pc:docMk/>
            <pc:sldMk cId="0" sldId="281"/>
            <ac:spMk id="9" creationId="{00000000-0000-0000-0000-000000000000}"/>
          </ac:spMkLst>
        </pc:spChg>
        <pc:spChg chg="mod">
          <ac:chgData name="Vinayak Garg" userId="9e10a2103ba57f5c" providerId="LiveId" clId="{AA7493DE-E2C8-49A2-A1A4-932DAF2ADBA3}" dt="2026-09-06T17:28:57.861" v="45" actId="14100"/>
          <ac:spMkLst>
            <pc:docMk/>
            <pc:sldMk cId="0" sldId="281"/>
            <ac:spMk id="15362" creationId="{00000000-0000-0000-0000-000000000000}"/>
          </ac:spMkLst>
        </pc:spChg>
        <pc:picChg chg="mod">
          <ac:chgData name="Vinayak Garg" userId="9e10a2103ba57f5c" providerId="LiveId" clId="{AA7493DE-E2C8-49A2-A1A4-932DAF2ADBA3}" dt="2026-09-06T17:29:14.939" v="48" actId="14100"/>
          <ac:picMkLst>
            <pc:docMk/>
            <pc:sldMk cId="0" sldId="281"/>
            <ac:picMk id="15363" creationId="{00000000-0000-0000-0000-000000000000}"/>
          </ac:picMkLst>
        </pc:picChg>
      </pc:sldChg>
      <pc:sldChg chg="modSp mod">
        <pc:chgData name="Vinayak Garg" userId="9e10a2103ba57f5c" providerId="LiveId" clId="{AA7493DE-E2C8-49A2-A1A4-932DAF2ADBA3}" dt="2026-09-06T17:29:35.442" v="49" actId="255"/>
        <pc:sldMkLst>
          <pc:docMk/>
          <pc:sldMk cId="0" sldId="290"/>
        </pc:sldMkLst>
        <pc:spChg chg="mod">
          <ac:chgData name="Vinayak Garg" userId="9e10a2103ba57f5c" providerId="LiveId" clId="{AA7493DE-E2C8-49A2-A1A4-932DAF2ADBA3}" dt="2026-09-06T17:29:35.442" v="49" actId="255"/>
          <ac:spMkLst>
            <pc:docMk/>
            <pc:sldMk cId="0" sldId="290"/>
            <ac:spMk id="17410" creationId="{00000000-0000-0000-0000-000000000000}"/>
          </ac:spMkLst>
        </pc:spChg>
      </pc:sldChg>
      <pc:sldChg chg="modSp mod">
        <pc:chgData name="Vinayak Garg" userId="9e10a2103ba57f5c" providerId="LiveId" clId="{AA7493DE-E2C8-49A2-A1A4-932DAF2ADBA3}" dt="2026-09-06T17:34:01.704" v="108" actId="20577"/>
        <pc:sldMkLst>
          <pc:docMk/>
          <pc:sldMk cId="0" sldId="291"/>
        </pc:sldMkLst>
        <pc:spChg chg="mod">
          <ac:chgData name="Vinayak Garg" userId="9e10a2103ba57f5c" providerId="LiveId" clId="{AA7493DE-E2C8-49A2-A1A4-932DAF2ADBA3}" dt="2026-09-06T17:34:01.704" v="108" actId="20577"/>
          <ac:spMkLst>
            <pc:docMk/>
            <pc:sldMk cId="0" sldId="291"/>
            <ac:spMk id="10" creationId="{00000000-0000-0000-0000-000000000000}"/>
          </ac:spMkLst>
        </pc:spChg>
      </pc:sldChg>
      <pc:sldChg chg="modSp mod">
        <pc:chgData name="Vinayak Garg" userId="9e10a2103ba57f5c" providerId="LiveId" clId="{AA7493DE-E2C8-49A2-A1A4-932DAF2ADBA3}" dt="2026-09-06T17:29:52.423" v="50" actId="255"/>
        <pc:sldMkLst>
          <pc:docMk/>
          <pc:sldMk cId="3753387913" sldId="293"/>
        </pc:sldMkLst>
        <pc:spChg chg="mod">
          <ac:chgData name="Vinayak Garg" userId="9e10a2103ba57f5c" providerId="LiveId" clId="{AA7493DE-E2C8-49A2-A1A4-932DAF2ADBA3}" dt="2026-09-06T17:29:52.423" v="50" actId="255"/>
          <ac:spMkLst>
            <pc:docMk/>
            <pc:sldMk cId="3753387913" sldId="293"/>
            <ac:spMk id="17410" creationId="{00000000-0000-0000-0000-000000000000}"/>
          </ac:spMkLst>
        </pc:spChg>
      </pc:sldChg>
      <pc:sldChg chg="modSp mod">
        <pc:chgData name="Vinayak Garg" userId="9e10a2103ba57f5c" providerId="LiveId" clId="{AA7493DE-E2C8-49A2-A1A4-932DAF2ADBA3}" dt="2026-09-06T17:30:02.850" v="51" actId="255"/>
        <pc:sldMkLst>
          <pc:docMk/>
          <pc:sldMk cId="2997144140" sldId="294"/>
        </pc:sldMkLst>
        <pc:spChg chg="mod">
          <ac:chgData name="Vinayak Garg" userId="9e10a2103ba57f5c" providerId="LiveId" clId="{AA7493DE-E2C8-49A2-A1A4-932DAF2ADBA3}" dt="2026-09-06T17:30:02.850" v="51" actId="255"/>
          <ac:spMkLst>
            <pc:docMk/>
            <pc:sldMk cId="2997144140" sldId="294"/>
            <ac:spMk id="17410" creationId="{00000000-0000-0000-0000-000000000000}"/>
          </ac:spMkLst>
        </pc:spChg>
      </pc:sldChg>
      <pc:sldChg chg="modSp mod">
        <pc:chgData name="Vinayak Garg" userId="9e10a2103ba57f5c" providerId="LiveId" clId="{AA7493DE-E2C8-49A2-A1A4-932DAF2ADBA3}" dt="2026-09-06T17:30:17.020" v="52" actId="255"/>
        <pc:sldMkLst>
          <pc:docMk/>
          <pc:sldMk cId="3916788613" sldId="296"/>
        </pc:sldMkLst>
        <pc:spChg chg="mod">
          <ac:chgData name="Vinayak Garg" userId="9e10a2103ba57f5c" providerId="LiveId" clId="{AA7493DE-E2C8-49A2-A1A4-932DAF2ADBA3}" dt="2026-09-06T17:30:17.020" v="52" actId="255"/>
          <ac:spMkLst>
            <pc:docMk/>
            <pc:sldMk cId="3916788613" sldId="296"/>
            <ac:spMk id="174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l"/>
            <a:r>
              <a:rPr sz="2000" b="1">
                <a:solidFill>
                  <a:srgbClr val="0F254B"/>
                </a:solidFill>
              </a:rPr>
              <a:t>BlockFlow: AI-Powered Automatic Block Planning System (IR-ABPS)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1915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1" dirty="0">
                <a:solidFill>
                  <a:srgbClr val="0F254B"/>
                </a:solidFill>
              </a:rPr>
              <a:t>Problem Statement ID: </a:t>
            </a:r>
            <a:r>
              <a:rPr sz="1150" b="0" dirty="0">
                <a:solidFill>
                  <a:srgbClr val="282828"/>
                </a:solidFill>
              </a:rPr>
              <a:t>SIH26027</a:t>
            </a:r>
            <a:endParaRPr lang="en-US" dirty="0"/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1" dirty="0">
                <a:solidFill>
                  <a:srgbClr val="0F254B"/>
                </a:solidFill>
              </a:rPr>
              <a:t>Problem Statement Title: </a:t>
            </a:r>
            <a:r>
              <a:rPr sz="1150" b="0" dirty="0">
                <a:solidFill>
                  <a:srgbClr val="282828"/>
                </a:solidFill>
              </a:rPr>
              <a:t>AI-Powered Automatic Block Planning to Maximize Asset Availability for Train Operations on Indian Railways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1" dirty="0">
                <a:solidFill>
                  <a:srgbClr val="0F254B"/>
                </a:solidFill>
              </a:rPr>
              <a:t>Theme: </a:t>
            </a:r>
            <a:r>
              <a:rPr sz="1150" b="0" dirty="0">
                <a:solidFill>
                  <a:srgbClr val="282828"/>
                </a:solidFill>
              </a:rPr>
              <a:t>Transportation &amp; Logistics / Smart Automation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1" dirty="0">
                <a:solidFill>
                  <a:srgbClr val="0F254B"/>
                </a:solidFill>
              </a:rPr>
              <a:t>PS Category: </a:t>
            </a:r>
            <a:r>
              <a:rPr sz="1150" b="0" dirty="0">
                <a:solidFill>
                  <a:srgbClr val="282828"/>
                </a:solidFill>
              </a:rPr>
              <a:t>Software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1" dirty="0">
                <a:solidFill>
                  <a:srgbClr val="0F254B"/>
                </a:solidFill>
              </a:rPr>
              <a:t>Team ID: </a:t>
            </a:r>
            <a:r>
              <a:rPr lang="en-IN" sz="1150">
                <a:solidFill>
                  <a:srgbClr val="282828"/>
                </a:solidFill>
              </a:rPr>
              <a:t>TH156</a:t>
            </a:r>
            <a:endParaRPr sz="1150" b="0" dirty="0">
              <a:solidFill>
                <a:srgbClr val="282828"/>
              </a:solidFill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1" dirty="0">
                <a:solidFill>
                  <a:srgbClr val="0F254B"/>
                </a:solidFill>
              </a:rPr>
              <a:t>Team Name: </a:t>
            </a:r>
            <a:r>
              <a:rPr lang="en-IN" sz="1150" dirty="0">
                <a:solidFill>
                  <a:srgbClr val="282828"/>
                </a:solidFill>
              </a:rPr>
              <a:t>Light Years</a:t>
            </a:r>
            <a:endParaRPr sz="1150" b="0" dirty="0">
              <a:solidFill>
                <a:srgbClr val="282828"/>
              </a:solidFill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1" dirty="0">
                <a:solidFill>
                  <a:srgbClr val="0F254B"/>
                </a:solidFill>
              </a:rPr>
              <a:t>Team Roster: </a:t>
            </a:r>
            <a:r>
              <a:rPr lang="en-IN" sz="1150" dirty="0">
                <a:solidFill>
                  <a:srgbClr val="282828"/>
                </a:solidFill>
              </a:rPr>
              <a:t>Shourya</a:t>
            </a:r>
            <a:r>
              <a:rPr sz="1150" b="0" dirty="0">
                <a:solidFill>
                  <a:srgbClr val="282828"/>
                </a:solidFill>
              </a:rPr>
              <a:t> (Architect) | Pradipti (Research &amp; Pitch) | Chhavi (AI/</a:t>
            </a:r>
            <a:r>
              <a:rPr sz="1150" b="0" dirty="0" err="1">
                <a:solidFill>
                  <a:srgbClr val="282828"/>
                </a:solidFill>
              </a:rPr>
              <a:t>MLOps</a:t>
            </a:r>
            <a:r>
              <a:rPr sz="1150" b="0" dirty="0">
                <a:solidFill>
                  <a:srgbClr val="282828"/>
                </a:solidFill>
              </a:rPr>
              <a:t>) | Vinayak (</a:t>
            </a:r>
            <a:r>
              <a:rPr lang="en-IN" sz="1150" b="0" dirty="0">
                <a:solidFill>
                  <a:srgbClr val="282828"/>
                </a:solidFill>
              </a:rPr>
              <a:t>Leader &amp; </a:t>
            </a:r>
            <a:r>
              <a:rPr sz="1150" b="0" dirty="0">
                <a:solidFill>
                  <a:srgbClr val="282828"/>
                </a:solidFill>
              </a:rPr>
              <a:t>Frontend) | Achintya (Backend) | Misha (DB &amp; GIS)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slide1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88641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2200" b="1">
                <a:solidFill>
                  <a:srgbClr val="0F254B"/>
                </a:solidFill>
              </a:rPr>
              <a:t>IDEA TITLE: BlockFlow (IR-ABPS)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1059580"/>
            <a:ext cx="7472516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spcBef>
                <a:spcPts val="500"/>
              </a:spcBef>
              <a:spcAft>
                <a:spcPts val="200"/>
              </a:spcAft>
              <a:buNone/>
            </a:pPr>
            <a:r>
              <a:rPr sz="1100" b="1" dirty="0">
                <a:solidFill>
                  <a:srgbClr val="0F254B"/>
                </a:solidFill>
              </a:rPr>
              <a:t>Proposed Solution (Describe your Idea/Solution/Prototype)</a:t>
            </a:r>
            <a:endParaRPr lang="en-US" sz="11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</a:t>
            </a:r>
            <a:r>
              <a:rPr sz="1100" b="1" dirty="0" err="1">
                <a:solidFill>
                  <a:srgbClr val="0F254B"/>
                </a:solidFill>
              </a:rPr>
              <a:t>BlockFlow</a:t>
            </a:r>
            <a:r>
              <a:rPr sz="1100" b="1" dirty="0">
                <a:solidFill>
                  <a:srgbClr val="0F254B"/>
                </a:solidFill>
              </a:rPr>
              <a:t> (IR-ABPS):</a:t>
            </a:r>
            <a:r>
              <a:rPr sz="1100" b="0" dirty="0">
                <a:solidFill>
                  <a:srgbClr val="282828"/>
                </a:solidFill>
              </a:rPr>
              <a:t> An automated, AI/OR-powered multi-horizon block planning system designed for Indian Railways that consolidates siloed departmental maintenance demands into unified, conflict-free shadow block windows while preserving punctuality.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3D Cesium Digital Twin &amp; Controller Console:</a:t>
            </a:r>
            <a:r>
              <a:rPr sz="1100" b="0" dirty="0">
                <a:solidFill>
                  <a:srgbClr val="282828"/>
                </a:solidFill>
              </a:rPr>
              <a:t> Real-time interactive WGS84 digital twin of the Mumbai Suburban Rail corridor (</a:t>
            </a:r>
            <a:r>
              <a:rPr sz="1100" b="0" dirty="0" err="1">
                <a:solidFill>
                  <a:srgbClr val="282828"/>
                </a:solidFill>
              </a:rPr>
              <a:t>Churchgate</a:t>
            </a:r>
            <a:r>
              <a:rPr sz="1100" b="0" dirty="0">
                <a:solidFill>
                  <a:srgbClr val="282828"/>
                </a:solidFill>
              </a:rPr>
              <a:t> to Virar, 29 stations, 4 tracks) coupled with an interactive string chart and instant sectional block-grant terminal.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Detailed explanation of the proposed solution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Asset Criticality Index (ACI) Prioritization:</a:t>
            </a:r>
            <a:r>
              <a:rPr sz="1100" b="0" dirty="0">
                <a:solidFill>
                  <a:srgbClr val="282828"/>
                </a:solidFill>
              </a:rPr>
              <a:t> Mathematically ranks track defects across Track (Engineering), Overhead Equipment (TRD), and Signaling (S&amp;T) based on track safety category, GMT tonnage, and speed restriction risks.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Mixed-Integer Linear Programming (MILP) Engine:</a:t>
            </a:r>
            <a:r>
              <a:rPr sz="1100" b="0" dirty="0">
                <a:solidFill>
                  <a:srgbClr val="282828"/>
                </a:solidFill>
              </a:rPr>
              <a:t> Formulates block allocation as an exact mathematical optimization problem using SciPy </a:t>
            </a:r>
            <a:r>
              <a:rPr sz="1100" b="0" dirty="0" err="1">
                <a:solidFill>
                  <a:srgbClr val="282828"/>
                </a:solidFill>
              </a:rPr>
              <a:t>HiGHS</a:t>
            </a:r>
            <a:r>
              <a:rPr sz="1100" b="0" dirty="0">
                <a:solidFill>
                  <a:srgbClr val="282828"/>
                </a:solidFill>
              </a:rPr>
              <a:t> simplex solver, guaranteeing zero operational conflict.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Shadow Block Co-Bounding:</a:t>
            </a:r>
            <a:r>
              <a:rPr sz="1100" b="0" dirty="0">
                <a:solidFill>
                  <a:srgbClr val="282828"/>
                </a:solidFill>
              </a:rPr>
              <a:t> Automatically nests secondary maintenance tasks (TRD power isolations, signal tests) into primary track closures, slashing network downtime by over 45%.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Dynamic Single-Line Working (SLW) Routing:</a:t>
            </a:r>
            <a:r>
              <a:rPr sz="1100" b="0" dirty="0">
                <a:solidFill>
                  <a:srgbClr val="282828"/>
                </a:solidFill>
              </a:rPr>
              <a:t> Calculates automated train regulation and crossover diversions through scissors crossovers to eliminate passenger cancellations during block execution.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How it addresses the problem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Eliminates Departmental Silos:</a:t>
            </a:r>
            <a:r>
              <a:rPr sz="1100" b="0" dirty="0">
                <a:solidFill>
                  <a:srgbClr val="282828"/>
                </a:solidFill>
              </a:rPr>
              <a:t> Replaces disjointed phone calls and WhatsApp/paper memos between P-Way, S&amp;T, and TRD with automated unified multi-departmental co-allocation.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Guarantees Punctuality &amp; Throughput:</a:t>
            </a:r>
            <a:r>
              <a:rPr sz="1100" b="0" dirty="0">
                <a:solidFill>
                  <a:srgbClr val="282828"/>
                </a:solidFill>
              </a:rPr>
              <a:t> Protects Sectional Run Times (SRT) and suburban headway margins (90s) while ensuring mandatory safety inspections comply with Indian Railways P-Way Manual.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Millisecond Re-optimization:</a:t>
            </a:r>
            <a:r>
              <a:rPr sz="1100" b="0" dirty="0">
                <a:solidFill>
                  <a:srgbClr val="282828"/>
                </a:solidFill>
              </a:rPr>
              <a:t> Provides instant (&lt;18ms) dynamic rescheduling when operational disruptions, machine failures, or VIP train movements occur.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Innovation and uniqueness of the solution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100% Deterministic &amp; Sovereign:</a:t>
            </a:r>
            <a:r>
              <a:rPr sz="1100" b="0" dirty="0">
                <a:solidFill>
                  <a:srgbClr val="282828"/>
                </a:solidFill>
              </a:rPr>
              <a:t> Zero reliance on black-box LLM hallucinations for safety-critical scheduling; uses formal mathematical constraints executable air-gapped on IR servers.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Multi-Horizon Planning Pipeline:</a:t>
            </a:r>
            <a:r>
              <a:rPr sz="1100" b="0" dirty="0">
                <a:solidFill>
                  <a:srgbClr val="282828"/>
                </a:solidFill>
              </a:rPr>
              <a:t> Unified data engine generating 30-day tactical master maintenance calendars, 7-day operational rosters, and real-time intra-day sectional diversion orders.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slide2_proto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516" y="1096125"/>
            <a:ext cx="4557420" cy="52602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F254B"/>
                </a:solidFill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3913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just">
              <a:spcBef>
                <a:spcPts val="500"/>
              </a:spcBef>
              <a:spcAft>
                <a:spcPts val="200"/>
              </a:spcAft>
              <a:buNone/>
            </a:pPr>
            <a:r>
              <a:rPr sz="1100" b="1" dirty="0">
                <a:solidFill>
                  <a:srgbClr val="0F254B"/>
                </a:solidFill>
              </a:rPr>
              <a:t>Technologies to be used (e.g. programming languages, frameworks, hardware)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Optimization &amp; Core AI Stack:</a:t>
            </a:r>
            <a:r>
              <a:rPr sz="1100" b="0" dirty="0">
                <a:solidFill>
                  <a:srgbClr val="282828"/>
                </a:solidFill>
              </a:rPr>
              <a:t> Python 3.11, SciPy </a:t>
            </a:r>
            <a:r>
              <a:rPr sz="1100" b="0" dirty="0" err="1">
                <a:solidFill>
                  <a:srgbClr val="282828"/>
                </a:solidFill>
              </a:rPr>
              <a:t>HiGHS</a:t>
            </a:r>
            <a:r>
              <a:rPr sz="1100" b="0" dirty="0">
                <a:solidFill>
                  <a:srgbClr val="282828"/>
                </a:solidFill>
              </a:rPr>
              <a:t> (Mixed-Integer Linear Programming), NumPy, </a:t>
            </a:r>
            <a:r>
              <a:rPr sz="1100" b="0" dirty="0" err="1">
                <a:solidFill>
                  <a:srgbClr val="282828"/>
                </a:solidFill>
              </a:rPr>
              <a:t>NetworkX</a:t>
            </a:r>
            <a:r>
              <a:rPr sz="1100" b="0" dirty="0">
                <a:solidFill>
                  <a:srgbClr val="282828"/>
                </a:solidFill>
              </a:rPr>
              <a:t> (Track Topology Graph Engine), Pandas.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Backend &amp; Safety Engine:</a:t>
            </a:r>
            <a:r>
              <a:rPr sz="1100" b="0" dirty="0">
                <a:solidFill>
                  <a:srgbClr val="282828"/>
                </a:solidFill>
              </a:rPr>
              <a:t> </a:t>
            </a:r>
            <a:r>
              <a:rPr sz="1100" b="0" dirty="0" err="1">
                <a:solidFill>
                  <a:srgbClr val="282828"/>
                </a:solidFill>
              </a:rPr>
              <a:t>FastAPI</a:t>
            </a:r>
            <a:r>
              <a:rPr sz="1100" b="0" dirty="0">
                <a:solidFill>
                  <a:srgbClr val="282828"/>
                </a:solidFill>
              </a:rPr>
              <a:t> enterprise REST gateway, </a:t>
            </a:r>
            <a:r>
              <a:rPr sz="1100" b="0" dirty="0" err="1">
                <a:solidFill>
                  <a:srgbClr val="282828"/>
                </a:solidFill>
              </a:rPr>
              <a:t>Pydantic</a:t>
            </a:r>
            <a:r>
              <a:rPr sz="1100" b="0" dirty="0">
                <a:solidFill>
                  <a:srgbClr val="282828"/>
                </a:solidFill>
              </a:rPr>
              <a:t> v2 data models, SQLite transaction registry, deterministic </a:t>
            </a:r>
            <a:r>
              <a:rPr sz="1100" b="0" dirty="0" err="1">
                <a:solidFill>
                  <a:srgbClr val="282828"/>
                </a:solidFill>
              </a:rPr>
              <a:t>spatio</a:t>
            </a:r>
            <a:r>
              <a:rPr sz="1100" b="0" dirty="0">
                <a:solidFill>
                  <a:srgbClr val="282828"/>
                </a:solidFill>
              </a:rPr>
              <a:t>-temporal constraint validator.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Spatial &amp; Digital Twin Frontend:</a:t>
            </a:r>
            <a:r>
              <a:rPr sz="1100" b="0" dirty="0">
                <a:solidFill>
                  <a:srgbClr val="282828"/>
                </a:solidFill>
              </a:rPr>
              <a:t> </a:t>
            </a:r>
            <a:r>
              <a:rPr sz="1100" b="0" dirty="0" err="1">
                <a:solidFill>
                  <a:srgbClr val="282828"/>
                </a:solidFill>
              </a:rPr>
              <a:t>CesiumJS</a:t>
            </a:r>
            <a:r>
              <a:rPr sz="1100" b="0" dirty="0">
                <a:solidFill>
                  <a:srgbClr val="282828"/>
                </a:solidFill>
              </a:rPr>
              <a:t> 3D geospatial engine, WGS84 EPSG:4326 GIS coordinate mapping, React 18, Vite, Tailwind CSS, SVG String Graph generator.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Integration &amp; Hardware Deployment:</a:t>
            </a:r>
            <a:r>
              <a:rPr sz="1100" b="0" dirty="0">
                <a:solidFill>
                  <a:srgbClr val="282828"/>
                </a:solidFill>
              </a:rPr>
              <a:t> JSON-schema compatible with CRIS/FOIS/COA/TMS APIs; runs in &lt;250MB RAM on standard off-the-shelf railway workstation PCs.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Methodology and process for implementation (Flow Charts/Images/ working prototype)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Stage 1 (Multi-Department Ingestion):</a:t>
            </a:r>
            <a:r>
              <a:rPr sz="1100" b="0" dirty="0">
                <a:solidFill>
                  <a:srgbClr val="282828"/>
                </a:solidFill>
              </a:rPr>
              <a:t> Ingests work requisitions from Track (TMS/USFD), Overhead Equipment (TRD), and Signaling (S&amp;T) with duration, track ID, and machine demands.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Stage 2 (Asset Criticality &amp; Headway Analysis):</a:t>
            </a:r>
            <a:r>
              <a:rPr sz="1100" b="0" dirty="0">
                <a:solidFill>
                  <a:srgbClr val="282828"/>
                </a:solidFill>
              </a:rPr>
              <a:t> Computes ACI scores from speed restrictions and GMT traffic density; extracts timetable slot headways from COA passenger train matrices.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Stage 3 (</a:t>
            </a:r>
            <a:r>
              <a:rPr sz="1100" b="1" dirty="0" err="1">
                <a:solidFill>
                  <a:srgbClr val="0F254B"/>
                </a:solidFill>
              </a:rPr>
              <a:t>HiGHS</a:t>
            </a:r>
            <a:r>
              <a:rPr sz="1100" b="1" dirty="0">
                <a:solidFill>
                  <a:srgbClr val="0F254B"/>
                </a:solidFill>
              </a:rPr>
              <a:t> MILP &amp; Shadow Bundling):</a:t>
            </a:r>
            <a:r>
              <a:rPr sz="1100" b="0" dirty="0">
                <a:solidFill>
                  <a:srgbClr val="282828"/>
                </a:solidFill>
              </a:rPr>
              <a:t> Executes mixed-integer solver under strict exclusive occupancy and safety isolation constraints; clusters compatible sub-tasks within parent blocks.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Stage 4 (Dynamic Train Rescheduling &amp; Crossovers):</a:t>
            </a:r>
            <a:r>
              <a:rPr sz="1100" b="0" dirty="0">
                <a:solidFill>
                  <a:srgbClr val="282828"/>
                </a:solidFill>
              </a:rPr>
              <a:t> Computes conflict-free single-line diversions across physical crossover points (Bandra, Dadar, Borivali) with zero route conflict.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Stage 5 (Digital Twin Visualization &amp; Dispatch):</a:t>
            </a:r>
            <a:r>
              <a:rPr sz="1100" b="0" dirty="0">
                <a:solidFill>
                  <a:srgbClr val="282828"/>
                </a:solidFill>
              </a:rPr>
              <a:t> Renders live 3D track status, displays interactive time-distance string charts, and transmits authorized digital grant permits to sectional controllers.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3_technical_approa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F254B"/>
                </a:solidFill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147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indent="0" algn="just" defTabSz="457200" rtl="0" eaLnBrk="1" fontAlgn="base" latinLnBrk="0" hangingPunct="1">
              <a:buNone/>
              <a:tabLst/>
              <a:defRPr/>
            </a:pPr>
            <a:r>
              <a:rPr sz="1100" b="1" dirty="0">
                <a:solidFill>
                  <a:srgbClr val="0F254B"/>
                </a:solidFill>
              </a:rPr>
              <a:t>Analysis of the feasibility of the idea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Fully Functional Working Prototype:</a:t>
            </a:r>
            <a:r>
              <a:rPr sz="1100" b="0" dirty="0">
                <a:solidFill>
                  <a:srgbClr val="282828"/>
                </a:solidFill>
              </a:rPr>
              <a:t> End-to-end </a:t>
            </a:r>
            <a:r>
              <a:rPr sz="1100" b="0" dirty="0" err="1">
                <a:solidFill>
                  <a:srgbClr val="282828"/>
                </a:solidFill>
              </a:rPr>
              <a:t>FastAPI</a:t>
            </a:r>
            <a:r>
              <a:rPr sz="1100" b="0" dirty="0">
                <a:solidFill>
                  <a:srgbClr val="282828"/>
                </a:solidFill>
              </a:rPr>
              <a:t> backend, </a:t>
            </a:r>
            <a:r>
              <a:rPr sz="1100" b="0" dirty="0" err="1">
                <a:solidFill>
                  <a:srgbClr val="282828"/>
                </a:solidFill>
              </a:rPr>
              <a:t>HiGHS</a:t>
            </a:r>
            <a:r>
              <a:rPr sz="1100" b="0" dirty="0">
                <a:solidFill>
                  <a:srgbClr val="282828"/>
                </a:solidFill>
              </a:rPr>
              <a:t> mathematical solver, and </a:t>
            </a:r>
            <a:r>
              <a:rPr sz="1100" b="0" dirty="0" err="1">
                <a:solidFill>
                  <a:srgbClr val="282828"/>
                </a:solidFill>
              </a:rPr>
              <a:t>CesiumJS</a:t>
            </a:r>
            <a:r>
              <a:rPr sz="1100" b="0" dirty="0">
                <a:solidFill>
                  <a:srgbClr val="282828"/>
                </a:solidFill>
              </a:rPr>
              <a:t> 3D digital twin operational with 100% automated test suite passing (test_e2e.py).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Real-World Railway Corridor Survey:</a:t>
            </a:r>
            <a:r>
              <a:rPr sz="1100" b="0" dirty="0">
                <a:solidFill>
                  <a:srgbClr val="282828"/>
                </a:solidFill>
              </a:rPr>
              <a:t> Fully mapped 29 stations and 4 tracks (UP/DOWN Local &amp; Fast) across the 60km Western Railway Mumbai suburban mainline (</a:t>
            </a:r>
            <a:r>
              <a:rPr sz="1100" b="0" dirty="0" err="1">
                <a:solidFill>
                  <a:srgbClr val="282828"/>
                </a:solidFill>
              </a:rPr>
              <a:t>Churchgate</a:t>
            </a:r>
            <a:r>
              <a:rPr sz="1100" b="0" dirty="0">
                <a:solidFill>
                  <a:srgbClr val="282828"/>
                </a:solidFill>
              </a:rPr>
              <a:t> to Virar).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Negligible Compute Footprint:</a:t>
            </a:r>
            <a:r>
              <a:rPr sz="1100" b="0" dirty="0">
                <a:solidFill>
                  <a:srgbClr val="282828"/>
                </a:solidFill>
              </a:rPr>
              <a:t> Solves complex 500-block scheduling problems in &lt;27ms; requires zero cloud GPU instances, operating entirely on standard air-gapped railway intranet servers.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Potential challenges and risks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Risk 1 (Departmental Coordination Friction):</a:t>
            </a:r>
            <a:r>
              <a:rPr sz="1100" b="0" dirty="0">
                <a:solidFill>
                  <a:srgbClr val="282828"/>
                </a:solidFill>
              </a:rPr>
              <a:t> Reluctance of field engineers across P-Way, S&amp;T, and TRD to synchronize maintenance windows and share track possessions.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Risk 2 (Real-Time Traffic Volatility):</a:t>
            </a:r>
            <a:r>
              <a:rPr sz="1100" b="0" dirty="0">
                <a:solidFill>
                  <a:srgbClr val="282828"/>
                </a:solidFill>
              </a:rPr>
              <a:t> Unforeseen train delays, locomotive failures, or emergency track defects disrupting pre-planned maintenance slots.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Risk 3 (Safety Hazards During Joint Blocks):</a:t>
            </a:r>
            <a:r>
              <a:rPr sz="1100" b="0" dirty="0">
                <a:solidFill>
                  <a:srgbClr val="282828"/>
                </a:solidFill>
              </a:rPr>
              <a:t> High-voltage 25kV AC traction energization risks or conflicting track machine movements in adjacent blocks.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Strategies for overcoming these challenges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Strategy 1 (Automated Win-Win Bundling):</a:t>
            </a:r>
            <a:r>
              <a:rPr sz="1100" b="0" dirty="0">
                <a:solidFill>
                  <a:srgbClr val="282828"/>
                </a:solidFill>
              </a:rPr>
              <a:t> System algorithmically proves mutual downtime reduction, providing unified dashboard sign-offs for Section Engineers across all three departments.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Strategy 2 (Sub-18ms Dynamic Reactive Rescheduling):</a:t>
            </a:r>
            <a:r>
              <a:rPr sz="1100" b="0" dirty="0">
                <a:solidFill>
                  <a:srgbClr val="282828"/>
                </a:solidFill>
              </a:rPr>
              <a:t> Instant single-command re-optimization re-allocates maintenance slots or redirects trains through alternate tracks in real time.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Strategy 3 (Hardcoded Safety Isolation Matrix):</a:t>
            </a:r>
            <a:r>
              <a:rPr sz="1100" b="0" dirty="0">
                <a:solidFill>
                  <a:srgbClr val="282828"/>
                </a:solidFill>
              </a:rPr>
              <a:t> Strict mathematical exclusion rules enforce 25kV neutral section earthing zones, machine stabling sidings, and minimum 90-second headway buffers.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4_feasibility_vi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F254B"/>
                </a:solidFill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3718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indent="0" algn="just" defTabSz="457200" rtl="0" eaLnBrk="1" fontAlgn="base" latinLnBrk="0" hangingPunct="1">
              <a:buNone/>
              <a:tabLst/>
              <a:defRPr/>
            </a:pPr>
            <a:r>
              <a:rPr sz="1100" b="1" dirty="0">
                <a:solidFill>
                  <a:srgbClr val="0F254B"/>
                </a:solidFill>
              </a:rPr>
              <a:t>Potential impact on the target audience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Sectional Controllers &amp; Chief Train Controllers (CPTM/DOM):</a:t>
            </a:r>
            <a:r>
              <a:rPr sz="1100" b="0" dirty="0">
                <a:solidFill>
                  <a:srgbClr val="282828"/>
                </a:solidFill>
              </a:rPr>
              <a:t> Eliminates high-pressure manual chart calculations; provides instant conflict-free block recommendations with 1-click grant approval.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Maintenance Field Engineers (Track, OHE, Signaling):</a:t>
            </a:r>
            <a:r>
              <a:rPr sz="1100" b="0" dirty="0">
                <a:solidFill>
                  <a:srgbClr val="282828"/>
                </a:solidFill>
              </a:rPr>
              <a:t> Guarantees predictable, coordinated track possessions with pre-positioned heavy machines (CSM, BCM, Tower Wagons).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Daily Commuters &amp; Freight Shippers:</a:t>
            </a:r>
            <a:r>
              <a:rPr sz="1100" b="0" dirty="0">
                <a:solidFill>
                  <a:srgbClr val="282828"/>
                </a:solidFill>
              </a:rPr>
              <a:t> Maintains 99%+ train punctuality; prevents sudden peak-hour cancellations through scheduled night and mid-day shadow block windows.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Benefits of the solution (social, economic, environmental, etc.)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Social Benefit (Passenger Reliability &amp; Safety):</a:t>
            </a:r>
            <a:r>
              <a:rPr sz="1100" b="0" dirty="0">
                <a:solidFill>
                  <a:srgbClr val="282828"/>
                </a:solidFill>
              </a:rPr>
              <a:t> Prevents passenger stranded delays; enforces strict RDSO track maintenance cycles, directly reducing derailment and rail fracture risks.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Economic Benefit (Operational Efficiency &amp; Cost Savings):</a:t>
            </a:r>
            <a:r>
              <a:rPr sz="1100" b="0" dirty="0">
                <a:solidFill>
                  <a:srgbClr val="282828"/>
                </a:solidFill>
              </a:rPr>
              <a:t> 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   • Track Downtime Reduction:</a:t>
            </a:r>
            <a:r>
              <a:rPr sz="1100" b="0" dirty="0">
                <a:solidFill>
                  <a:srgbClr val="282828"/>
                </a:solidFill>
              </a:rPr>
              <a:t> Saves 180+ minutes of track closure time per joint mega block through automated multi-department synchronization.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   • Delay Penalty Savings:</a:t>
            </a:r>
            <a:r>
              <a:rPr sz="1100" b="0" dirty="0">
                <a:solidFill>
                  <a:srgbClr val="282828"/>
                </a:solidFill>
              </a:rPr>
              <a:t> Saves an estimated ₹14.8 Crores annually per division by eradicating block-induced freight and express train detentions.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   • Machine Productivity:</a:t>
            </a:r>
            <a:r>
              <a:rPr sz="1100" b="0" dirty="0">
                <a:solidFill>
                  <a:srgbClr val="282828"/>
                </a:solidFill>
              </a:rPr>
              <a:t> Increases utilization of high-capital track machines (CSM/BCM costing ₹15+ Cr each) by over 40% through optimized stabling.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Environmental Benefit (Fuel &amp; Carbon Emission Reduction):</a:t>
            </a:r>
            <a:r>
              <a:rPr sz="1100" b="0" dirty="0">
                <a:solidFill>
                  <a:srgbClr val="282828"/>
                </a:solidFill>
              </a:rPr>
              <a:t> Prevents 1,420+ metric </a:t>
            </a:r>
            <a:r>
              <a:rPr sz="1100" b="0" dirty="0" err="1">
                <a:solidFill>
                  <a:srgbClr val="282828"/>
                </a:solidFill>
              </a:rPr>
              <a:t>tonnes</a:t>
            </a:r>
            <a:r>
              <a:rPr sz="1100" b="0" dirty="0">
                <a:solidFill>
                  <a:srgbClr val="282828"/>
                </a:solidFill>
              </a:rPr>
              <a:t> of CO2 emissions annually per zone by eliminating diesel idling and inefficient stop-and-go speed restrictions.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5_impact_benefi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F254B"/>
                </a:solidFill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460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indent="0" algn="just" defTabSz="457200" rtl="0" eaLnBrk="1" fontAlgn="base" latinLnBrk="0" hangingPunct="1">
              <a:buNone/>
              <a:tabLst/>
              <a:defRPr/>
            </a:pPr>
            <a:r>
              <a:rPr sz="1100" b="1" dirty="0">
                <a:solidFill>
                  <a:srgbClr val="0F254B"/>
                </a:solidFill>
              </a:rPr>
              <a:t>Details / Links of the reference and research work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Indian Railways Regulatory Codes &amp; RDSO Standards:</a:t>
            </a:r>
            <a:r>
              <a:rPr sz="1100" b="0" dirty="0">
                <a:solidFill>
                  <a:srgbClr val="282828"/>
                </a:solidFill>
              </a:rPr>
              <a:t> 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   • Indian Railways Permanent Way Manual (IRPWM 2020):</a:t>
            </a:r>
            <a:r>
              <a:rPr sz="1100" b="0" dirty="0">
                <a:solidFill>
                  <a:srgbClr val="282828"/>
                </a:solidFill>
              </a:rPr>
              <a:t> Para 268(b) for USFD ultrasonic rail flaw testing schedules; Para 284 for switch &amp; crossing maintenance.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   • AC Traction Manual (ACTM Vol II):</a:t>
            </a:r>
            <a:r>
              <a:rPr sz="1100" b="0" dirty="0">
                <a:solidFill>
                  <a:srgbClr val="282828"/>
                </a:solidFill>
              </a:rPr>
              <a:t> Para 203 &amp; 207 for 25kV OHE power block isolations, permit-to-work (PTW) protocols, and earthing boundaries.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   • Indian Railways Signal Engineering Manual (IRSEM):</a:t>
            </a:r>
            <a:r>
              <a:rPr sz="1100" b="0" dirty="0">
                <a:solidFill>
                  <a:srgbClr val="282828"/>
                </a:solidFill>
              </a:rPr>
              <a:t> Para 22 for Point Machine overhauling, Track Circuit testing, and Multi-Section Digital Axle Counter (MSDAC) verification.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Foundational Operations Research &amp; Literature:</a:t>
            </a:r>
            <a:r>
              <a:rPr sz="1100" b="0" dirty="0">
                <a:solidFill>
                  <a:srgbClr val="282828"/>
                </a:solidFill>
              </a:rPr>
              <a:t> 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   • </a:t>
            </a:r>
            <a:r>
              <a:rPr sz="1100" b="1" dirty="0" err="1">
                <a:solidFill>
                  <a:srgbClr val="0F254B"/>
                </a:solidFill>
              </a:rPr>
              <a:t>D'Ariano</a:t>
            </a:r>
            <a:r>
              <a:rPr sz="1100" b="1" dirty="0">
                <a:solidFill>
                  <a:srgbClr val="0F254B"/>
                </a:solidFill>
              </a:rPr>
              <a:t>, </a:t>
            </a:r>
            <a:r>
              <a:rPr sz="1100" b="1" dirty="0" err="1">
                <a:solidFill>
                  <a:srgbClr val="0F254B"/>
                </a:solidFill>
              </a:rPr>
              <a:t>Pacciarelli</a:t>
            </a:r>
            <a:r>
              <a:rPr sz="1100" b="1" dirty="0">
                <a:solidFill>
                  <a:srgbClr val="0F254B"/>
                </a:solidFill>
              </a:rPr>
              <a:t>, &amp; Pranzo (2007):</a:t>
            </a:r>
            <a:r>
              <a:rPr sz="1100" b="0" dirty="0">
                <a:solidFill>
                  <a:srgbClr val="282828"/>
                </a:solidFill>
              </a:rPr>
              <a:t> "A conflict resolution approach for real-time dispatching in railway networks." Transportation Research Part B: Methodological.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   • Corman, </a:t>
            </a:r>
            <a:r>
              <a:rPr sz="1100" b="1" dirty="0" err="1">
                <a:solidFill>
                  <a:srgbClr val="0F254B"/>
                </a:solidFill>
              </a:rPr>
              <a:t>D'Ariano</a:t>
            </a:r>
            <a:r>
              <a:rPr sz="1100" b="1" dirty="0">
                <a:solidFill>
                  <a:srgbClr val="0F254B"/>
                </a:solidFill>
              </a:rPr>
              <a:t>, </a:t>
            </a:r>
            <a:r>
              <a:rPr sz="1100" b="1" dirty="0" err="1">
                <a:solidFill>
                  <a:srgbClr val="0F254B"/>
                </a:solidFill>
              </a:rPr>
              <a:t>Pacciarelli</a:t>
            </a:r>
            <a:r>
              <a:rPr sz="1100" b="1" dirty="0">
                <a:solidFill>
                  <a:srgbClr val="0F254B"/>
                </a:solidFill>
              </a:rPr>
              <a:t>, &amp; Pranzo (2014):</a:t>
            </a:r>
            <a:r>
              <a:rPr sz="1100" b="0" dirty="0">
                <a:solidFill>
                  <a:srgbClr val="282828"/>
                </a:solidFill>
              </a:rPr>
              <a:t> "Optimal inter-area coordination of train rescheduling decisions." IEEE Transactions on Intelligent Transportation Systems.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   • Huangfu &amp; Hall (2018):</a:t>
            </a:r>
            <a:r>
              <a:rPr sz="1100" b="0" dirty="0">
                <a:solidFill>
                  <a:srgbClr val="282828"/>
                </a:solidFill>
              </a:rPr>
              <a:t> "Parallelizing the dual revised simplex method." Mathematical Programming Computation (Foundational paper behind the </a:t>
            </a:r>
            <a:r>
              <a:rPr sz="1100" b="0" dirty="0" err="1">
                <a:solidFill>
                  <a:srgbClr val="282828"/>
                </a:solidFill>
              </a:rPr>
              <a:t>HiGHS</a:t>
            </a:r>
            <a:r>
              <a:rPr sz="1100" b="0" dirty="0">
                <a:solidFill>
                  <a:srgbClr val="282828"/>
                </a:solidFill>
              </a:rPr>
              <a:t> solver).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   • PM Gati Shakti National Master Plan:</a:t>
            </a:r>
            <a:r>
              <a:rPr sz="1100" b="0" dirty="0">
                <a:solidFill>
                  <a:srgbClr val="282828"/>
                </a:solidFill>
              </a:rPr>
              <a:t> Ministry of Railways guidelines for GIS-based unified infrastructure planning (EPSG:4326 WGS84 </a:t>
            </a:r>
            <a:r>
              <a:rPr sz="1100" b="0" dirty="0" err="1">
                <a:solidFill>
                  <a:srgbClr val="282828"/>
                </a:solidFill>
              </a:rPr>
              <a:t>GeoJSON</a:t>
            </a:r>
            <a:r>
              <a:rPr sz="1100" b="0" dirty="0">
                <a:solidFill>
                  <a:srgbClr val="282828"/>
                </a:solidFill>
              </a:rPr>
              <a:t> schema).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• Verified Project Codebase &amp; Live Endpoints:</a:t>
            </a:r>
            <a:r>
              <a:rPr sz="1100" b="0" dirty="0">
                <a:solidFill>
                  <a:srgbClr val="282828"/>
                </a:solidFill>
              </a:rPr>
              <a:t> 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   • Project Repository &amp; Architecture:</a:t>
            </a:r>
            <a:r>
              <a:rPr sz="1100" b="0" dirty="0">
                <a:solidFill>
                  <a:srgbClr val="282828"/>
                </a:solidFill>
              </a:rPr>
              <a:t> Full </a:t>
            </a:r>
            <a:r>
              <a:rPr sz="1100" b="0" dirty="0" err="1">
                <a:solidFill>
                  <a:srgbClr val="282828"/>
                </a:solidFill>
              </a:rPr>
              <a:t>FastAPI</a:t>
            </a:r>
            <a:r>
              <a:rPr sz="1100" b="0" dirty="0">
                <a:solidFill>
                  <a:srgbClr val="282828"/>
                </a:solidFill>
              </a:rPr>
              <a:t>, SciPy </a:t>
            </a:r>
            <a:r>
              <a:rPr sz="1100" b="0" dirty="0" err="1">
                <a:solidFill>
                  <a:srgbClr val="282828"/>
                </a:solidFill>
              </a:rPr>
              <a:t>HiGHS</a:t>
            </a:r>
            <a:r>
              <a:rPr sz="1100" b="0" dirty="0">
                <a:solidFill>
                  <a:srgbClr val="282828"/>
                </a:solidFill>
              </a:rPr>
              <a:t> Solver &amp; Cesium 3D Digital Twin codebase verified and tested in D:\projects\TTC.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   • Automated Test Suite:</a:t>
            </a:r>
            <a:r>
              <a:rPr sz="1100" b="0" dirty="0">
                <a:solidFill>
                  <a:srgbClr val="282828"/>
                </a:solidFill>
              </a:rPr>
              <a:t> 100% passing tests (test_e2e.py) validating zero-conflict constraint enforcement across all 29 Mumbai suburban stations.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 dirty="0">
                <a:solidFill>
                  <a:srgbClr val="0F254B"/>
                </a:solidFill>
              </a:rPr>
              <a:t>   • Active Endpoints:</a:t>
            </a:r>
            <a:r>
              <a:rPr sz="1100" b="0" dirty="0">
                <a:solidFill>
                  <a:srgbClr val="282828"/>
                </a:solidFill>
              </a:rPr>
              <a:t> /</a:t>
            </a:r>
            <a:r>
              <a:rPr sz="1100" b="0" dirty="0" err="1">
                <a:solidFill>
                  <a:srgbClr val="282828"/>
                </a:solidFill>
              </a:rPr>
              <a:t>api</a:t>
            </a:r>
            <a:r>
              <a:rPr sz="1100" b="0" dirty="0">
                <a:solidFill>
                  <a:srgbClr val="282828"/>
                </a:solidFill>
              </a:rPr>
              <a:t>/schedule/weekly, /</a:t>
            </a:r>
            <a:r>
              <a:rPr sz="1100" b="0" dirty="0" err="1">
                <a:solidFill>
                  <a:srgbClr val="282828"/>
                </a:solidFill>
              </a:rPr>
              <a:t>api</a:t>
            </a:r>
            <a:r>
              <a:rPr sz="1100" b="0" dirty="0">
                <a:solidFill>
                  <a:srgbClr val="282828"/>
                </a:solidFill>
              </a:rPr>
              <a:t>/schedule/monthly, /</a:t>
            </a:r>
            <a:r>
              <a:rPr sz="1100" b="0" dirty="0" err="1">
                <a:solidFill>
                  <a:srgbClr val="282828"/>
                </a:solidFill>
              </a:rPr>
              <a:t>api</a:t>
            </a:r>
            <a:r>
              <a:rPr sz="1100" b="0" dirty="0">
                <a:solidFill>
                  <a:srgbClr val="282828"/>
                </a:solidFill>
              </a:rPr>
              <a:t>/defects, /</a:t>
            </a:r>
            <a:r>
              <a:rPr sz="1100" b="0" dirty="0" err="1">
                <a:solidFill>
                  <a:srgbClr val="282828"/>
                </a:solidFill>
              </a:rPr>
              <a:t>api</a:t>
            </a:r>
            <a:r>
              <a:rPr sz="1100" b="0" dirty="0">
                <a:solidFill>
                  <a:srgbClr val="282828"/>
                </a:solidFill>
              </a:rPr>
              <a:t>/simulate.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6_research_referen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7497</TotalTime>
  <Words>1686</Words>
  <Application>Microsoft Office PowerPoint</Application>
  <PresentationFormat>Widescreen</PresentationFormat>
  <Paragraphs>97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Garamond</vt:lpstr>
      <vt:lpstr>TradeGothic</vt:lpstr>
      <vt:lpstr>Office Theme</vt:lpstr>
      <vt:lpstr>SMART INDIA HACKATHON 2026</vt:lpstr>
      <vt:lpstr>IDEA TITLE: BlockFlow (IR-ABPS)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Vinayak Garg</cp:lastModifiedBy>
  <cp:revision>148</cp:revision>
  <dcterms:created xsi:type="dcterms:W3CDTF">2013-12-12T18:46:50Z</dcterms:created>
  <dcterms:modified xsi:type="dcterms:W3CDTF">2026-09-06T17:34:06Z</dcterms:modified>
  <cp:category/>
</cp:coreProperties>
</file>