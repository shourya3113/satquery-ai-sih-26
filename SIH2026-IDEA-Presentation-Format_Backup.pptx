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000" b="1">
                <a:solidFill>
                  <a:srgbClr val="0F254B"/>
                </a:solidFill>
              </a:defRPr>
            </a:pPr>
            <a:r>
              <a:t>SatQuery AI: Agentic Multimodal Remote Sensing Intelligence Platform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0F254B"/>
                </a:solidFill>
              </a:rPr>
              <a:t>Problem Statement ID: </a:t>
            </a:r>
            <a:r>
              <a:rPr b="0" sz="1200">
                <a:solidFill>
                  <a:srgbClr val="282828"/>
                </a:solidFill>
              </a:rPr>
              <a:t>SIH26167</a:t>
            </a:r>
            <a:endParaRPr lang="en-US" dirty="0"/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254B"/>
                </a:solidFill>
              </a:rPr>
              <a:t>Problem Statement Title: </a:t>
            </a:r>
            <a:r>
              <a:rPr b="0" sz="1200">
                <a:solidFill>
                  <a:srgbClr val="282828"/>
                </a:solidFill>
              </a:rPr>
              <a:t>Agentic Multimodal AI for Remote Sensing Analysis (ISRO / SAC)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254B"/>
                </a:solidFill>
              </a:rPr>
              <a:t>Theme: </a:t>
            </a:r>
            <a:r>
              <a:rPr b="0" sz="1200">
                <a:solidFill>
                  <a:srgbClr val="282828"/>
                </a:solidFill>
              </a:rPr>
              <a:t>Space Technology / Disaster Management &amp; Geospatial Intelligence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254B"/>
                </a:solidFill>
              </a:rPr>
              <a:t>PS Category: </a:t>
            </a:r>
            <a:r>
              <a:rPr b="0" sz="1200">
                <a:solidFill>
                  <a:srgbClr val="282828"/>
                </a:solidFill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254B"/>
                </a:solidFill>
              </a:rPr>
              <a:t>Team ID: </a:t>
            </a:r>
            <a:r>
              <a:rPr b="0" sz="1200">
                <a:solidFill>
                  <a:srgbClr val="282828"/>
                </a:solidFill>
              </a:rPr>
              <a:t>[Registered Portal Team ID]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254B"/>
                </a:solidFill>
              </a:rPr>
              <a:t>Team Name: </a:t>
            </a:r>
            <a:r>
              <a:rPr b="0" sz="1200">
                <a:solidFill>
                  <a:srgbClr val="282828"/>
                </a:solidFill>
              </a:rPr>
              <a:t>SatQuery AI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254B"/>
                </a:solidFill>
              </a:rPr>
              <a:t>Team Roster: </a:t>
            </a:r>
            <a:r>
              <a:rPr b="0" sz="1200">
                <a:solidFill>
                  <a:srgbClr val="282828"/>
                </a:solidFill>
              </a:rPr>
              <a:t>Peter (Leader &amp; Architect) | Pradipti (Research &amp; Pitch) | Chhavi (AI/MLOps) | Vinayak (Frontend) | Achintya (Backend) | Misha (DB &amp; GIS)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300" b="1">
                <a:solidFill>
                  <a:srgbClr val="0F254B"/>
                </a:solidFill>
              </a:defRPr>
            </a:pPr>
            <a:r>
              <a:t>IDEA TITLE: SatQuery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0F254B"/>
                </a:solidFill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SatQuery AI:</a:t>
            </a:r>
            <a:r>
              <a:rPr b="0" sz="880">
                <a:solidFill>
                  <a:srgbClr val="282828"/>
                </a:solidFill>
              </a:rPr>
              <a:t> Agentic multimodal Earth Observation platform designed for ISRO/SAC converting natural language into verified geospatial intelligence across Optical (Cartosat, S-2) &amp; SAR (RISAT, S-1) imagery.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Web-GIS Dashboard:</a:t>
            </a:r>
            <a:r>
              <a:rPr b="0" sz="880">
                <a:solidFill>
                  <a:srgbClr val="282828"/>
                </a:solidFill>
              </a:rPr>
              <a:t> Features MapLibre GL dual-pane swipe slider, dynamic GeoJSON vector delineation, and 1-click Intelligence Dossier PDF export.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0F254B"/>
                </a:solidFill>
              </a:rPr>
              <a:t>Detailed explanation of the proposed solution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Agentic Task Router:</a:t>
            </a:r>
            <a:r>
              <a:rPr b="0" sz="880">
                <a:solidFill>
                  <a:srgbClr val="282828"/>
                </a:solidFill>
              </a:rPr>
              <a:t> Classifies intent across 5 tasks (Single VQA, Captioning, SAM-2 Grounding, ChangeFormer CDVQA, Optical-SAR Fusion).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Optical-SAR Cross-Modal Fusion:</a:t>
            </a:r>
            <a:r>
              <a:rPr b="0" sz="880">
                <a:solidFill>
                  <a:srgbClr val="282828"/>
                </a:solidFill>
              </a:rPr>
              <a:t> Combines cloud-blind optical spectral bands with cloud-penetrating SAR microwave roughness (sigma0 dB) for 24/7 all-weather intelligence.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Zero Coordinate Hallucination:</a:t>
            </a:r>
            <a:r>
              <a:rPr b="0" sz="880">
                <a:solidFill>
                  <a:srgbClr val="282828"/>
                </a:solidFill>
              </a:rPr>
              <a:t> Direct Affine Matrix projection from pixel masks to EPSG:4326 GeoJSON polygons with exact physical hectare calculations.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0F254B"/>
                </a:solidFill>
              </a:rPr>
              <a:t>How it addresses the problem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Solves Cloud Blindspot:</a:t>
            </a:r>
            <a:r>
              <a:rPr b="0" sz="880">
                <a:solidFill>
                  <a:srgbClr val="282828"/>
                </a:solidFill>
              </a:rPr>
              <a:t> Overcomes optical sensor blindness during monsoon cloudbursts and cyclones using C-band radar wave penetration.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Eliminates GIS Complexity:</a:t>
            </a:r>
            <a:r>
              <a:rPr b="0" sz="880">
                <a:solidFill>
                  <a:srgbClr val="282828"/>
                </a:solidFill>
              </a:rPr>
              <a:t> Enables conversational natural-language querying for disaster field officers without desktop GIS expertise.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100% Observable Telemetry:</a:t>
            </a:r>
            <a:r>
              <a:rPr b="0" sz="880">
                <a:solidFill>
                  <a:srgbClr val="282828"/>
                </a:solidFill>
              </a:rPr>
              <a:t> Generates verifiable JSON execution traces detailing tools, bounds, confidence, and latencies.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0F254B"/>
                </a:solidFill>
              </a:rPr>
              <a:t>Innovation and uniqueness of the solution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Sovereign Dual-Use Architecture:</a:t>
            </a:r>
            <a:r>
              <a:rPr b="0" sz="880">
                <a:solidFill>
                  <a:srgbClr val="282828"/>
                </a:solidFill>
              </a:rPr>
              <a:t> ISRO Bhuvan / MOSDAC / NDMA disaster response + commercial PMFBY crop insurance &amp; NHAI highway auditing.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Sub-2.5s Lightweight Inference:</a:t>
            </a:r>
            <a:r>
              <a:rPr b="0" sz="880">
                <a:solidFill>
                  <a:srgbClr val="282828"/>
                </a:solidFill>
              </a:rPr>
              <a:t> 4-bit QLoRA fine-tuned Qwen2-VL-2B adapted for remote sensing, operating in &lt;6GB VRAM on consumer GPUs.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254B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lide2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300" b="1">
                <a:solidFill>
                  <a:srgbClr val="0F254B"/>
                </a:solidFill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just"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0F254B"/>
                </a:solidFill>
              </a:rPr>
              <a:t>Technologies to be used (e.g. programming languages, frameworks, hardware)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AI &amp; MLOps Stack:</a:t>
            </a:r>
            <a:r>
              <a:rPr b="0" sz="880">
                <a:solidFill>
                  <a:srgbClr val="282828"/>
                </a:solidFill>
              </a:rPr>
              <a:t> Python 3.11, PyTorch 2.6, Qwen2-VL-2B (4-bit QLoRA), Grounding DINO + SAM-2, ChangeFormer-V2, ONNX Runtime, GPUManager.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Geospatial Engine:</a:t>
            </a:r>
            <a:r>
              <a:rPr b="0" sz="880">
                <a:solidFill>
                  <a:srgbClr val="282828"/>
                </a:solidFill>
              </a:rPr>
              <a:t> Rasterio, GDAL, NumPy, SciPy (adaptive 5x5 Lee speckle filter), Shapely, Affine transformation matrices.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Backend &amp; Spatial Lake:</a:t>
            </a:r>
            <a:r>
              <a:rPr b="0" sz="880">
                <a:solidFill>
                  <a:srgbClr val="282828"/>
                </a:solidFill>
              </a:rPr>
              <a:t> FastAPI REST Gateway, Pydantic v2 schemas, SQLite spatial cache (satquery_cache.db), ReportLab PDF engine.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Web-GIS Frontend:</a:t>
            </a:r>
            <a:r>
              <a:rPr b="0" sz="880">
                <a:solidFill>
                  <a:srgbClr val="282828"/>
                </a:solidFill>
              </a:rPr>
              <a:t> React 18, TypeScript, MapLibre GL, Dual-Pane Split Swipe Slider, Tailwind CSS.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0F254B"/>
                </a:solidFill>
              </a:rPr>
              <a:t>Methodology and process for implementation (Flow Charts/Images/ working prototype)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Stage 1 (Multi-Modal Ingestion):</a:t>
            </a:r>
            <a:r>
              <a:rPr b="0" sz="880">
                <a:solidFill>
                  <a:srgbClr val="282828"/>
                </a:solidFill>
              </a:rPr>
              <a:t> Parses GeoTIFFs &amp; benchmark PNGs; verifies CRS, GSD, bands; converts SAR amplitude to calibrated sigma0 (dB).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Stage 2 (Agentic Orchestration):</a:t>
            </a:r>
            <a:r>
              <a:rPr b="0" sz="880">
                <a:solidFill>
                  <a:srgbClr val="282828"/>
                </a:solidFill>
              </a:rPr>
              <a:t> AgenticTaskRouter parses natural language, validates spatial co-registration between images, and bounds parameters.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Stage 3 (Dynamic Tool Execution):</a:t>
            </a:r>
            <a:r>
              <a:rPr b="0" sz="880">
                <a:solidFill>
                  <a:srgbClr val="282828"/>
                </a:solidFill>
              </a:rPr>
              <a:t> Routes to RS-VQA, SAM-2 Grounding, ChangeFormer CDVQA, or Optical-SAR Fusion with microsecond telemetry.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Stage 4 (Deterministic Affine Math):</a:t>
            </a:r>
            <a:r>
              <a:rPr b="0" sz="880">
                <a:solidFill>
                  <a:srgbClr val="282828"/>
                </a:solidFill>
              </a:rPr>
              <a:t> Projects binary masks to Earth coordinates [lon, lat]^T = Affine * [x, y, 1]^T, computing exact area in hectares.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Stage 5 (Trace &amp; Dossier Synthesis):</a:t>
            </a:r>
            <a:r>
              <a:rPr b="0" sz="880">
                <a:solidFill>
                  <a:srgbClr val="282828"/>
                </a:solidFill>
              </a:rPr>
              <a:t> Emits observable JSON trace, renders interactive vector overlays, and compiles automated Intelligence Dossier PDFs.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254B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3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300" b="1">
                <a:solidFill>
                  <a:srgbClr val="0F254B"/>
                </a:solidFill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SzTx/>
              <a:tabLst/>
              <a:defRPr/>
            </a:pPr>
            <a:r>
              <a:rPr b="1" sz="1050">
                <a:solidFill>
                  <a:srgbClr val="0F254B"/>
                </a:solidFill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Working Prototype Validated:</a:t>
            </a:r>
            <a:r>
              <a:rPr b="0" sz="880">
                <a:solidFill>
                  <a:srgbClr val="282828"/>
                </a:solidFill>
              </a:rPr>
              <a:t> 36/36 automated integration tests passing (100% pass rate) on GitHub repo across API, Orchestrator, Affine Engine, and SQLite Registry.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Lean Hardware Footprint:</a:t>
            </a:r>
            <a:r>
              <a:rPr b="0" sz="880">
                <a:solidFill>
                  <a:srgbClr val="282828"/>
                </a:solidFill>
              </a:rPr>
              <a:t> Modular specialist backends run within &lt;6GB VRAM (operates smoothly on standard developer laptops and free Google Colab T4 GPUs).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Sovereign &amp; Air-Gapped Ready:</a:t>
            </a:r>
            <a:r>
              <a:rPr b="0" sz="880">
                <a:solidFill>
                  <a:srgbClr val="282828"/>
                </a:solidFill>
              </a:rPr>
              <a:t> Operates self-contained without external third-party proprietary APIs (OpenAI/Anthropic); deployable on NIC MeghRaj or Bhuvan Cloud.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0F254B"/>
                </a:solidFill>
              </a:rPr>
              <a:t>Potential challenges and risks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Risk 1 (Spatial Misalignment):</a:t>
            </a:r>
            <a:r>
              <a:rPr b="0" sz="880">
                <a:solidFill>
                  <a:srgbClr val="282828"/>
                </a:solidFill>
              </a:rPr>
              <a:t> Geometric distortion or CRS mismatches between multi-temporal passes or different sensor modalities.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Risk 2 (SAR Speckle Noise):</a:t>
            </a:r>
            <a:r>
              <a:rPr b="0" sz="880">
                <a:solidFill>
                  <a:srgbClr val="282828"/>
                </a:solidFill>
              </a:rPr>
              <a:t> Coherent radar interference creating false high-frequency edges and spurious change detections.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Risk 3 (LLM Coordinate Hallucination):</a:t>
            </a:r>
            <a:r>
              <a:rPr b="0" sz="880">
                <a:solidFill>
                  <a:srgbClr val="282828"/>
                </a:solidFill>
              </a:rPr>
              <a:t> General generative models outputting fictitious geographic coordinates and arbitrary polygon boundaries.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0F254B"/>
                </a:solidFill>
              </a:rPr>
              <a:t>Strategies for overcoming these challenges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Strategy 1 (Automated Preprocessing Guardrail):</a:t>
            </a:r>
            <a:r>
              <a:rPr b="0" sz="880">
                <a:solidFill>
                  <a:srgbClr val="282828"/>
                </a:solidFill>
              </a:rPr>
              <a:t> Ingestion pipeline verifies CRS (EPSG:32633, EPSG:4326), bounding box overlap, and spatial resolution prior to tool dispatch.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Strategy 2 (Adaptive Lee Speckle Filtering):</a:t>
            </a:r>
            <a:r>
              <a:rPr b="0" sz="880">
                <a:solidFill>
                  <a:srgbClr val="282828"/>
                </a:solidFill>
              </a:rPr>
              <a:t> Applied 5x5 window adaptive Lee filtering on calibrated SAR intensity to eliminate speckle noise while preserving sharp coastlines and urban edges.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Strategy 3 (Affine Matrix Coordinate Projection):</a:t>
            </a:r>
            <a:r>
              <a:rPr b="0" sz="880">
                <a:solidFill>
                  <a:srgbClr val="282828"/>
                </a:solidFill>
              </a:rPr>
              <a:t> Hardcoded affine coordinate math directly computes polygon vertices from raster transformations, making coordinate hallucination mathematically impossible.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254B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4_feasi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300" b="1">
                <a:solidFill>
                  <a:srgbClr val="0F254B"/>
                </a:solidFill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SzTx/>
              <a:tabLst/>
              <a:defRPr/>
            </a:pPr>
            <a:r>
              <a:rPr b="1" sz="1050">
                <a:solidFill>
                  <a:srgbClr val="0F254B"/>
                </a:solidFill>
              </a:rPr>
              <a:t>Potential impact on the target audience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ISRO / SAC &amp; National Disaster Management Authority (NDMA):</a:t>
            </a:r>
            <a:r>
              <a:rPr b="0" sz="880">
                <a:solidFill>
                  <a:srgbClr val="282828"/>
                </a:solidFill>
              </a:rPr>
              <a:t> Instantaneous flood and landslide mapping through dense clouds, cutting damage assessment from days to &lt;3s.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Defense &amp; Border Security Organizations:</a:t>
            </a:r>
            <a:r>
              <a:rPr b="0" sz="880">
                <a:solidFill>
                  <a:srgbClr val="282828"/>
                </a:solidFill>
              </a:rPr>
              <a:t> 24/7 all-weather structural change detection and vehicle/runway monitoring along borders without manual GIS registration.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District Administration &amp; Field Officers:</a:t>
            </a:r>
            <a:r>
              <a:rPr b="0" sz="880">
                <a:solidFill>
                  <a:srgbClr val="282828"/>
                </a:solidFill>
              </a:rPr>
              <a:t> Conversational natural-language interface enables field commanders to query satellite data without specialized GIS training.</a:t>
            </a:r>
          </a:p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0F254B"/>
                </a:solidFill>
              </a:rPr>
              <a:t>Benefits of the solution (social, economic, environmental, etc.)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Social Benefit (Disaster Resilience):</a:t>
            </a:r>
            <a:r>
              <a:rPr b="0" sz="880">
                <a:solidFill>
                  <a:srgbClr val="282828"/>
                </a:solidFill>
              </a:rPr>
              <a:t> Rapid, verified disaster mapping directly saves lives during monsoon floods, cyclones, and cloudburst events by directing first responders to isolated regions.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Economic Benefit (Dual-Use Commercial Market):</a:t>
            </a:r>
            <a:r>
              <a:rPr b="0" sz="880">
                <a:solidFill>
                  <a:srgbClr val="282828"/>
                </a:solidFill>
              </a:rPr>
              <a:t/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Agritech &amp; Crop Insurance:</a:t>
            </a:r>
            <a:r>
              <a:rPr b="0" sz="830">
                <a:solidFill>
                  <a:srgbClr val="282828"/>
                </a:solidFill>
              </a:rPr>
              <a:t> Automates crop damage assessment for PMFBY, preventing fraudulent claims and accelerating payouts.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Infrastructure Auditing:</a:t>
            </a:r>
            <a:r>
              <a:rPr b="0" sz="830">
                <a:solidFill>
                  <a:srgbClr val="282828"/>
                </a:solidFill>
              </a:rPr>
              <a:t> Dynamically monitors NHAI highway expansion, urban sprawl, and encroachments.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Cost Reduction:</a:t>
            </a:r>
            <a:r>
              <a:rPr b="0" sz="830">
                <a:solidFill>
                  <a:srgbClr val="282828"/>
                </a:solidFill>
              </a:rPr>
              <a:t> Sovereign open-source stack eliminates expensive commercial GIS desktop licenses ($5,000+/seat).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Environmental Benefit:</a:t>
            </a:r>
            <a:r>
              <a:rPr b="0" sz="880">
                <a:solidFill>
                  <a:srgbClr val="282828"/>
                </a:solidFill>
              </a:rPr>
              <a:t> Continuous monitoring of deforestation, reservoir depletion, and wetland conservation through automated NDVI/NDWI indexing and directional change analysis.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254B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5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300" b="1">
                <a:solidFill>
                  <a:srgbClr val="0F254B"/>
                </a:solidFill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SzTx/>
              <a:tabLst/>
              <a:defRPr/>
            </a:pPr>
            <a:r>
              <a:rPr b="1" sz="1050">
                <a:solidFill>
                  <a:srgbClr val="0F254B"/>
                </a:solidFill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Benchmark Datasets &amp; Domain Adaptation:</a:t>
            </a:r>
            <a:r>
              <a:rPr b="0" sz="880">
                <a:solidFill>
                  <a:srgbClr val="282828"/>
                </a:solidFill>
              </a:rPr>
              <a:t/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BigEarthNet-MM:</a:t>
            </a:r>
            <a:r>
              <a:rPr b="0" sz="830">
                <a:solidFill>
                  <a:srgbClr val="282828"/>
                </a:solidFill>
              </a:rPr>
              <a:t> 590,326 Sentinel-1 SAR and Sentinel-2 Multispectral patch pairs used for cross-modal contrastive representation learning.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VRSBench:</a:t>
            </a:r>
            <a:r>
              <a:rPr b="0" sz="830">
                <a:solidFill>
                  <a:srgbClr val="282828"/>
                </a:solidFill>
              </a:rPr>
              <a:t> High-resolution visual grounding, scene captioning, and remote sensing VQA benchmarks.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RSVQA &amp; CDVQA:</a:t>
            </a:r>
            <a:r>
              <a:rPr b="0" sz="830">
                <a:solidFill>
                  <a:srgbClr val="282828"/>
                </a:solidFill>
              </a:rPr>
              <a:t> High/Low resolution VQA and Change Detection Visual Question Answering benchmarks.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ISRO Sensor Calibration:</a:t>
            </a:r>
            <a:r>
              <a:rPr b="0" sz="830">
                <a:solidFill>
                  <a:srgbClr val="282828"/>
                </a:solidFill>
              </a:rPr>
              <a:t> Cartosat-2S (0.65m GSD pan-sharpened optical) &amp; RISAT-1A / EOS-04 (C-band SAR backscatter calibration).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Foundational Literature &amp; Model Backbones:</a:t>
            </a:r>
            <a:r>
              <a:rPr b="0" sz="880">
                <a:solidFill>
                  <a:srgbClr val="282828"/>
                </a:solidFill>
              </a:rPr>
              <a:t/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Segment Anything Model 2 (SAM-2):</a:t>
            </a:r>
            <a:r>
              <a:rPr b="0" sz="830">
                <a:solidFill>
                  <a:srgbClr val="282828"/>
                </a:solidFill>
              </a:rPr>
              <a:t> Kirillov et al., Meta AI (2024) - Zero-shot promptable mask delineation.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ChangeFormer-V2:</a:t>
            </a:r>
            <a:r>
              <a:rPr b="0" sz="830">
                <a:solidFill>
                  <a:srgbClr val="282828"/>
                </a:solidFill>
              </a:rPr>
              <a:t> Bandara &amp; Patel (2022) - Bitemporal Transformer for remote sensing change detection.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Qwen2-VL:</a:t>
            </a:r>
            <a:r>
              <a:rPr b="0" sz="830">
                <a:solidFill>
                  <a:srgbClr val="282828"/>
                </a:solidFill>
              </a:rPr>
              <a:t> Wang et al., Alibaba Cloud (2024) - Vision-Language model with dynamic resolution processing.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80">
                <a:solidFill>
                  <a:srgbClr val="0F254B"/>
                </a:solidFill>
              </a:rPr>
              <a:t>• Project Repository &amp; Verified Codebase:</a:t>
            </a:r>
            <a:r>
              <a:rPr b="0" sz="880">
                <a:solidFill>
                  <a:srgbClr val="282828"/>
                </a:solidFill>
              </a:rPr>
              <a:t/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GitHub Repository:</a:t>
            </a:r>
            <a:r>
              <a:rPr b="0" sz="830">
                <a:solidFill>
                  <a:srgbClr val="282828"/>
                </a:solidFill>
              </a:rPr>
              <a:t> https://github.com/Shourya3113/SatQuery-AI-SIH-26</a:t>
            </a:r>
          </a:p>
          <a:p>
            <a:pPr marL="228600" indent="-152400">
              <a:spcBef>
                <a:spcPts val="100"/>
              </a:spcBef>
              <a:spcAft>
                <a:spcPts val="200"/>
              </a:spcAft>
            </a:pPr>
            <a:r>
              <a:rPr b="1" sz="830">
                <a:solidFill>
                  <a:srgbClr val="0F254B"/>
                </a:solidFill>
              </a:rPr>
              <a:t>   • Test Suite:</a:t>
            </a:r>
            <a:r>
              <a:rPr b="0" sz="830">
                <a:solidFill>
                  <a:srgbClr val="282828"/>
                </a:solidFill>
              </a:rPr>
              <a:t> 36/36 automated integration tests passing across REST API, Orchestrator, Affine Engine, and SQLite Registry.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254B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6_re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