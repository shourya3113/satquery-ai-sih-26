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8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nayak Garg" userId="9e10a2103ba57f5c" providerId="LiveId" clId="{AA7493DE-E2C8-49A2-A1A4-932DAF2ADBA3}"/>
    <pc:docChg chg="modSld">
      <pc:chgData name="Vinayak Garg" userId="9e10a2103ba57f5c" providerId="LiveId" clId="{AA7493DE-E2C8-49A2-A1A4-932DAF2ADBA3}" dt="2026-09-06T17:36:20.901" v="62" actId="20577"/>
      <pc:docMkLst>
        <pc:docMk/>
      </pc:docMkLst>
      <pc:sldChg chg="modSp mod">
        <pc:chgData name="Vinayak Garg" userId="9e10a2103ba57f5c" providerId="LiveId" clId="{AA7493DE-E2C8-49A2-A1A4-932DAF2ADBA3}" dt="2026-09-06T17:36:20.901" v="62" actId="20577"/>
        <pc:sldMkLst>
          <pc:docMk/>
          <pc:sldMk cId="0" sldId="291"/>
        </pc:sldMkLst>
        <pc:spChg chg="mod">
          <ac:chgData name="Vinayak Garg" userId="9e10a2103ba57f5c" providerId="LiveId" clId="{AA7493DE-E2C8-49A2-A1A4-932DAF2ADBA3}" dt="2026-09-06T17:36:20.901" v="62" actId="20577"/>
          <ac:spMkLst>
            <pc:docMk/>
            <pc:sldMk cId="0" sldId="291"/>
            <ac:spMk id="1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9/6/2026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9/6/2026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pPr>
              <a:defRPr sz="2000" b="1">
                <a:solidFill>
                  <a:srgbClr val="0F254B"/>
                </a:solidFill>
              </a:defRPr>
            </a:pPr>
            <a:r>
              <a:t>SatQuery AI: Agentic Multimodal Remote Sensing Intelligence Platform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400"/>
              </a:spcAft>
            </a:pPr>
            <a:r>
              <a:rPr sz="1200" b="1" dirty="0">
                <a:solidFill>
                  <a:srgbClr val="0F254B"/>
                </a:solidFill>
              </a:rPr>
              <a:t>Problem Statement ID: </a:t>
            </a:r>
            <a:r>
              <a:rPr sz="1200" b="0" dirty="0">
                <a:solidFill>
                  <a:srgbClr val="282828"/>
                </a:solidFill>
              </a:rPr>
              <a:t>SIH26167</a:t>
            </a:r>
            <a:endParaRPr lang="en-US" dirty="0"/>
          </a:p>
          <a:p>
            <a:pPr>
              <a:spcAft>
                <a:spcPts val="400"/>
              </a:spcAft>
            </a:pPr>
            <a:r>
              <a:rPr sz="1200" b="1" dirty="0">
                <a:solidFill>
                  <a:srgbClr val="0F254B"/>
                </a:solidFill>
              </a:rPr>
              <a:t>Problem Statement Title: </a:t>
            </a:r>
            <a:r>
              <a:rPr sz="1200" b="0" dirty="0">
                <a:solidFill>
                  <a:srgbClr val="282828"/>
                </a:solidFill>
              </a:rPr>
              <a:t>Agentic Multimodal AI for Remote Sensing Analysis (ISRO / SAC)</a:t>
            </a:r>
          </a:p>
          <a:p>
            <a:pPr>
              <a:spcAft>
                <a:spcPts val="400"/>
              </a:spcAft>
            </a:pPr>
            <a:r>
              <a:rPr sz="1200" b="1" dirty="0">
                <a:solidFill>
                  <a:srgbClr val="0F254B"/>
                </a:solidFill>
              </a:rPr>
              <a:t>Theme: </a:t>
            </a:r>
            <a:r>
              <a:rPr sz="1200" b="0" dirty="0">
                <a:solidFill>
                  <a:srgbClr val="282828"/>
                </a:solidFill>
              </a:rPr>
              <a:t>Space Technology / Disaster Management &amp; Geospatial Intelligence</a:t>
            </a:r>
          </a:p>
          <a:p>
            <a:pPr>
              <a:spcAft>
                <a:spcPts val="400"/>
              </a:spcAft>
            </a:pPr>
            <a:r>
              <a:rPr sz="1200" b="1" dirty="0">
                <a:solidFill>
                  <a:srgbClr val="0F254B"/>
                </a:solidFill>
              </a:rPr>
              <a:t>PS Category: </a:t>
            </a:r>
            <a:r>
              <a:rPr sz="1200" b="0" dirty="0">
                <a:solidFill>
                  <a:srgbClr val="282828"/>
                </a:solidFill>
              </a:rPr>
              <a:t>Software</a:t>
            </a:r>
          </a:p>
          <a:p>
            <a:pPr>
              <a:spcAft>
                <a:spcPts val="400"/>
              </a:spcAft>
            </a:pPr>
            <a:r>
              <a:rPr sz="1200" b="1" dirty="0">
                <a:solidFill>
                  <a:srgbClr val="0F254B"/>
                </a:solidFill>
              </a:rPr>
              <a:t>Team ID: </a:t>
            </a:r>
            <a:r>
              <a:rPr lang="en-IN" sz="1200" dirty="0">
                <a:solidFill>
                  <a:srgbClr val="282828"/>
                </a:solidFill>
              </a:rPr>
              <a:t>TH145</a:t>
            </a:r>
            <a:endParaRPr sz="1200" b="0" dirty="0">
              <a:solidFill>
                <a:srgbClr val="282828"/>
              </a:solidFill>
            </a:endParaRPr>
          </a:p>
          <a:p>
            <a:pPr>
              <a:spcAft>
                <a:spcPts val="400"/>
              </a:spcAft>
            </a:pPr>
            <a:r>
              <a:rPr sz="1200" b="1" dirty="0">
                <a:solidFill>
                  <a:srgbClr val="0F254B"/>
                </a:solidFill>
              </a:rPr>
              <a:t>Team Name: </a:t>
            </a:r>
            <a:r>
              <a:rPr lang="en-IN" sz="1200">
                <a:solidFill>
                  <a:srgbClr val="282828"/>
                </a:solidFill>
              </a:rPr>
              <a:t>Infinity</a:t>
            </a:r>
            <a:endParaRPr sz="1200" b="0" dirty="0">
              <a:solidFill>
                <a:srgbClr val="282828"/>
              </a:solidFill>
            </a:endParaRPr>
          </a:p>
          <a:p>
            <a:pPr>
              <a:spcAft>
                <a:spcPts val="400"/>
              </a:spcAft>
            </a:pPr>
            <a:r>
              <a:rPr sz="1200" b="1" dirty="0">
                <a:solidFill>
                  <a:srgbClr val="0F254B"/>
                </a:solidFill>
              </a:rPr>
              <a:t>Team Roster: </a:t>
            </a:r>
            <a:r>
              <a:rPr lang="en-IN" sz="1200" dirty="0">
                <a:solidFill>
                  <a:srgbClr val="282828"/>
                </a:solidFill>
              </a:rPr>
              <a:t>Shourya</a:t>
            </a:r>
            <a:r>
              <a:rPr sz="1200" b="0" dirty="0">
                <a:solidFill>
                  <a:srgbClr val="282828"/>
                </a:solidFill>
              </a:rPr>
              <a:t> (Leader &amp; Architect) | Pradipti (Research &amp; Pitch) | Chhavi (AI/</a:t>
            </a:r>
            <a:r>
              <a:rPr sz="1200" b="0" dirty="0" err="1">
                <a:solidFill>
                  <a:srgbClr val="282828"/>
                </a:solidFill>
              </a:rPr>
              <a:t>MLOps</a:t>
            </a:r>
            <a:r>
              <a:rPr sz="1200" b="0" dirty="0">
                <a:solidFill>
                  <a:srgbClr val="282828"/>
                </a:solidFill>
              </a:rPr>
              <a:t>) | Vinayak (Frontend) | Achintya (Backend) | Misha (DB &amp; GIS)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>
              <a:defRPr sz="2300" b="1">
                <a:solidFill>
                  <a:srgbClr val="0F254B"/>
                </a:solidFill>
              </a:defRPr>
            </a:pPr>
            <a:r>
              <a:t>IDEA TITLE: SatQuery AI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502920" y="1234440"/>
            <a:ext cx="5943600" cy="4983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indent="0">
              <a:spcBef>
                <a:spcPts val="500"/>
              </a:spcBef>
              <a:spcAft>
                <a:spcPts val="200"/>
              </a:spcAft>
              <a:buNone/>
            </a:pPr>
            <a:r>
              <a:rPr sz="1050" b="1">
                <a:solidFill>
                  <a:srgbClr val="0F254B"/>
                </a:solidFill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228600" indent="-152400">
              <a:spcBef>
                <a:spcPts val="100"/>
              </a:spcBef>
              <a:spcAft>
                <a:spcPts val="200"/>
              </a:spcAft>
            </a:pPr>
            <a:r>
              <a:rPr sz="880" b="1">
                <a:solidFill>
                  <a:srgbClr val="0F254B"/>
                </a:solidFill>
              </a:rPr>
              <a:t>• SatQuery AI:</a:t>
            </a:r>
            <a:r>
              <a:rPr sz="880" b="0">
                <a:solidFill>
                  <a:srgbClr val="282828"/>
                </a:solidFill>
              </a:rPr>
              <a:t> Agentic multimodal Earth Observation platform designed for ISRO/SAC converting natural language into verified geospatial intelligence across Optical (Cartosat, S-2) &amp; SAR (RISAT, S-1) imagery.</a:t>
            </a:r>
          </a:p>
          <a:p>
            <a:pPr marL="228600" indent="-152400">
              <a:spcBef>
                <a:spcPts val="100"/>
              </a:spcBef>
              <a:spcAft>
                <a:spcPts val="200"/>
              </a:spcAft>
            </a:pPr>
            <a:r>
              <a:rPr sz="880" b="1">
                <a:solidFill>
                  <a:srgbClr val="0F254B"/>
                </a:solidFill>
              </a:rPr>
              <a:t>• Web-GIS Dashboard:</a:t>
            </a:r>
            <a:r>
              <a:rPr sz="880" b="0">
                <a:solidFill>
                  <a:srgbClr val="282828"/>
                </a:solidFill>
              </a:rPr>
              <a:t> Features MapLibre GL dual-pane swipe slider, dynamic GeoJSON vector delineation, and 1-click Intelligence Dossier PDF export.</a:t>
            </a:r>
          </a:p>
          <a:p>
            <a:pPr marL="0" indent="0">
              <a:spcBef>
                <a:spcPts val="500"/>
              </a:spcBef>
              <a:spcAft>
                <a:spcPts val="200"/>
              </a:spcAft>
              <a:buNone/>
            </a:pPr>
            <a:r>
              <a:rPr sz="1050" b="1">
                <a:solidFill>
                  <a:srgbClr val="0F254B"/>
                </a:solidFill>
              </a:rPr>
              <a:t>Detailed explanation of the proposed solution</a:t>
            </a:r>
          </a:p>
          <a:p>
            <a:pPr marL="228600" indent="-152400">
              <a:spcBef>
                <a:spcPts val="100"/>
              </a:spcBef>
              <a:spcAft>
                <a:spcPts val="200"/>
              </a:spcAft>
            </a:pPr>
            <a:r>
              <a:rPr sz="880" b="1">
                <a:solidFill>
                  <a:srgbClr val="0F254B"/>
                </a:solidFill>
              </a:rPr>
              <a:t>• Agentic Task Router:</a:t>
            </a:r>
            <a:r>
              <a:rPr sz="880" b="0">
                <a:solidFill>
                  <a:srgbClr val="282828"/>
                </a:solidFill>
              </a:rPr>
              <a:t> Classifies intent across 5 tasks (Single VQA, Captioning, SAM-2 Grounding, ChangeFormer CDVQA, Optical-SAR Fusion).</a:t>
            </a:r>
          </a:p>
          <a:p>
            <a:pPr marL="228600" indent="-152400">
              <a:spcBef>
                <a:spcPts val="100"/>
              </a:spcBef>
              <a:spcAft>
                <a:spcPts val="200"/>
              </a:spcAft>
            </a:pPr>
            <a:r>
              <a:rPr sz="880" b="1">
                <a:solidFill>
                  <a:srgbClr val="0F254B"/>
                </a:solidFill>
              </a:rPr>
              <a:t>• Optical-SAR Cross-Modal Fusion:</a:t>
            </a:r>
            <a:r>
              <a:rPr sz="880" b="0">
                <a:solidFill>
                  <a:srgbClr val="282828"/>
                </a:solidFill>
              </a:rPr>
              <a:t> Combines cloud-blind optical spectral bands with cloud-penetrating SAR microwave roughness (sigma0 dB) for 24/7 all-weather intelligence.</a:t>
            </a:r>
          </a:p>
          <a:p>
            <a:pPr marL="228600" indent="-152400">
              <a:spcBef>
                <a:spcPts val="100"/>
              </a:spcBef>
              <a:spcAft>
                <a:spcPts val="200"/>
              </a:spcAft>
            </a:pPr>
            <a:r>
              <a:rPr sz="880" b="1">
                <a:solidFill>
                  <a:srgbClr val="0F254B"/>
                </a:solidFill>
              </a:rPr>
              <a:t>• Zero Coordinate Hallucination:</a:t>
            </a:r>
            <a:r>
              <a:rPr sz="880" b="0">
                <a:solidFill>
                  <a:srgbClr val="282828"/>
                </a:solidFill>
              </a:rPr>
              <a:t> Direct Affine Matrix projection from pixel masks to EPSG:4326 GeoJSON polygons with exact physical hectare calculations.</a:t>
            </a:r>
          </a:p>
          <a:p>
            <a:pPr marL="0" indent="0">
              <a:spcBef>
                <a:spcPts val="500"/>
              </a:spcBef>
              <a:spcAft>
                <a:spcPts val="200"/>
              </a:spcAft>
              <a:buNone/>
            </a:pPr>
            <a:r>
              <a:rPr sz="1050" b="1">
                <a:solidFill>
                  <a:srgbClr val="0F254B"/>
                </a:solidFill>
              </a:rPr>
              <a:t>How it addresses the problem</a:t>
            </a:r>
          </a:p>
          <a:p>
            <a:pPr marL="228600" indent="-152400">
              <a:spcBef>
                <a:spcPts val="100"/>
              </a:spcBef>
              <a:spcAft>
                <a:spcPts val="200"/>
              </a:spcAft>
            </a:pPr>
            <a:r>
              <a:rPr sz="880" b="1">
                <a:solidFill>
                  <a:srgbClr val="0F254B"/>
                </a:solidFill>
              </a:rPr>
              <a:t>• Solves Cloud Blindspot:</a:t>
            </a:r>
            <a:r>
              <a:rPr sz="880" b="0">
                <a:solidFill>
                  <a:srgbClr val="282828"/>
                </a:solidFill>
              </a:rPr>
              <a:t> Overcomes optical sensor blindness during monsoon cloudbursts and cyclones using C-band radar wave penetration.</a:t>
            </a:r>
          </a:p>
          <a:p>
            <a:pPr marL="228600" indent="-152400">
              <a:spcBef>
                <a:spcPts val="100"/>
              </a:spcBef>
              <a:spcAft>
                <a:spcPts val="200"/>
              </a:spcAft>
            </a:pPr>
            <a:r>
              <a:rPr sz="880" b="1">
                <a:solidFill>
                  <a:srgbClr val="0F254B"/>
                </a:solidFill>
              </a:rPr>
              <a:t>• Eliminates GIS Complexity:</a:t>
            </a:r>
            <a:r>
              <a:rPr sz="880" b="0">
                <a:solidFill>
                  <a:srgbClr val="282828"/>
                </a:solidFill>
              </a:rPr>
              <a:t> Enables conversational natural-language querying for disaster field officers without desktop GIS expertise.</a:t>
            </a:r>
          </a:p>
          <a:p>
            <a:pPr marL="228600" indent="-152400">
              <a:spcBef>
                <a:spcPts val="100"/>
              </a:spcBef>
              <a:spcAft>
                <a:spcPts val="200"/>
              </a:spcAft>
            </a:pPr>
            <a:r>
              <a:rPr sz="880" b="1">
                <a:solidFill>
                  <a:srgbClr val="0F254B"/>
                </a:solidFill>
              </a:rPr>
              <a:t>• 100% Observable Telemetry:</a:t>
            </a:r>
            <a:r>
              <a:rPr sz="880" b="0">
                <a:solidFill>
                  <a:srgbClr val="282828"/>
                </a:solidFill>
              </a:rPr>
              <a:t> Generates verifiable JSON execution traces detailing tools, bounds, confidence, and latencies.</a:t>
            </a:r>
          </a:p>
          <a:p>
            <a:pPr marL="0" indent="0">
              <a:spcBef>
                <a:spcPts val="500"/>
              </a:spcBef>
              <a:spcAft>
                <a:spcPts val="200"/>
              </a:spcAft>
              <a:buNone/>
            </a:pPr>
            <a:r>
              <a:rPr sz="1050" b="1">
                <a:solidFill>
                  <a:srgbClr val="0F254B"/>
                </a:solidFill>
              </a:rPr>
              <a:t>Innovation and uniqueness of the solution</a:t>
            </a:r>
          </a:p>
          <a:p>
            <a:pPr marL="228600" indent="-152400">
              <a:spcBef>
                <a:spcPts val="100"/>
              </a:spcBef>
              <a:spcAft>
                <a:spcPts val="200"/>
              </a:spcAft>
            </a:pPr>
            <a:r>
              <a:rPr sz="880" b="1">
                <a:solidFill>
                  <a:srgbClr val="0F254B"/>
                </a:solidFill>
              </a:rPr>
              <a:t>• Sovereign Dual-Use Architecture:</a:t>
            </a:r>
            <a:r>
              <a:rPr sz="880" b="0">
                <a:solidFill>
                  <a:srgbClr val="282828"/>
                </a:solidFill>
              </a:rPr>
              <a:t> ISRO Bhuvan / MOSDAC / NDMA disaster response + commercial PMFBY crop insurance &amp; NHAI highway auditing.</a:t>
            </a:r>
          </a:p>
          <a:p>
            <a:pPr marL="228600" indent="-152400">
              <a:spcBef>
                <a:spcPts val="100"/>
              </a:spcBef>
              <a:spcAft>
                <a:spcPts val="200"/>
              </a:spcAft>
            </a:pPr>
            <a:r>
              <a:rPr sz="880" b="1">
                <a:solidFill>
                  <a:srgbClr val="0F254B"/>
                </a:solidFill>
              </a:rPr>
              <a:t>• Sub-2.5s Lightweight Inference:</a:t>
            </a:r>
            <a:r>
              <a:rPr sz="880" b="0">
                <a:solidFill>
                  <a:srgbClr val="282828"/>
                </a:solidFill>
              </a:rPr>
              <a:t> 4-bit QLoRA fine-tuned Qwen2-VL-2B adapted for remote sensing, operating in &lt;6GB VRAM on consumer GPUs.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0F254B"/>
                </a:solidFill>
              </a:defRPr>
            </a:pPr>
            <a:r>
              <a:t>SatQuery AI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5363" name="Picture 15362" descr="slide2_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1234440"/>
            <a:ext cx="516636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 sz="2300" b="1">
                <a:solidFill>
                  <a:srgbClr val="0F254B"/>
                </a:solidFill>
              </a:defRPr>
            </a:pPr>
            <a: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02920" y="1234440"/>
            <a:ext cx="5943600" cy="4983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indent="0" algn="just">
              <a:spcBef>
                <a:spcPts val="500"/>
              </a:spcBef>
              <a:spcAft>
                <a:spcPts val="200"/>
              </a:spcAft>
              <a:buNone/>
            </a:pPr>
            <a:r>
              <a:rPr sz="1050" b="1">
                <a:solidFill>
                  <a:srgbClr val="0F254B"/>
                </a:solidFill>
              </a:rPr>
              <a:t>Technologies to be used (e.g. programming languages, frameworks, hardware)</a:t>
            </a:r>
          </a:p>
          <a:p>
            <a:pPr marL="228600" indent="-152400">
              <a:spcBef>
                <a:spcPts val="100"/>
              </a:spcBef>
              <a:spcAft>
                <a:spcPts val="200"/>
              </a:spcAft>
            </a:pPr>
            <a:r>
              <a:rPr sz="880" b="1">
                <a:solidFill>
                  <a:srgbClr val="0F254B"/>
                </a:solidFill>
              </a:rPr>
              <a:t>• AI &amp; MLOps Stack:</a:t>
            </a:r>
            <a:r>
              <a:rPr sz="880" b="0">
                <a:solidFill>
                  <a:srgbClr val="282828"/>
                </a:solidFill>
              </a:rPr>
              <a:t> Python 3.11, PyTorch 2.6, Qwen2-VL-2B (4-bit QLoRA), Grounding DINO + SAM-2, ChangeFormer-V2, ONNX Runtime, GPUManager.</a:t>
            </a:r>
          </a:p>
          <a:p>
            <a:pPr marL="228600" indent="-152400">
              <a:spcBef>
                <a:spcPts val="100"/>
              </a:spcBef>
              <a:spcAft>
                <a:spcPts val="200"/>
              </a:spcAft>
            </a:pPr>
            <a:r>
              <a:rPr sz="880" b="1">
                <a:solidFill>
                  <a:srgbClr val="0F254B"/>
                </a:solidFill>
              </a:rPr>
              <a:t>• Geospatial Engine:</a:t>
            </a:r>
            <a:r>
              <a:rPr sz="880" b="0">
                <a:solidFill>
                  <a:srgbClr val="282828"/>
                </a:solidFill>
              </a:rPr>
              <a:t> Rasterio, GDAL, NumPy, SciPy (adaptive 5x5 Lee speckle filter), Shapely, Affine transformation matrices.</a:t>
            </a:r>
          </a:p>
          <a:p>
            <a:pPr marL="228600" indent="-152400">
              <a:spcBef>
                <a:spcPts val="100"/>
              </a:spcBef>
              <a:spcAft>
                <a:spcPts val="200"/>
              </a:spcAft>
            </a:pPr>
            <a:r>
              <a:rPr sz="880" b="1">
                <a:solidFill>
                  <a:srgbClr val="0F254B"/>
                </a:solidFill>
              </a:rPr>
              <a:t>• Backend &amp; Spatial Lake:</a:t>
            </a:r>
            <a:r>
              <a:rPr sz="880" b="0">
                <a:solidFill>
                  <a:srgbClr val="282828"/>
                </a:solidFill>
              </a:rPr>
              <a:t> FastAPI REST Gateway, Pydantic v2 schemas, SQLite spatial cache (satquery_cache.db), ReportLab PDF engine.</a:t>
            </a:r>
          </a:p>
          <a:p>
            <a:pPr marL="228600" indent="-152400">
              <a:spcBef>
                <a:spcPts val="100"/>
              </a:spcBef>
              <a:spcAft>
                <a:spcPts val="200"/>
              </a:spcAft>
            </a:pPr>
            <a:r>
              <a:rPr sz="880" b="1">
                <a:solidFill>
                  <a:srgbClr val="0F254B"/>
                </a:solidFill>
              </a:rPr>
              <a:t>• Web-GIS Frontend:</a:t>
            </a:r>
            <a:r>
              <a:rPr sz="880" b="0">
                <a:solidFill>
                  <a:srgbClr val="282828"/>
                </a:solidFill>
              </a:rPr>
              <a:t> React 18, TypeScript, MapLibre GL, Dual-Pane Split Swipe Slider, Tailwind CSS.</a:t>
            </a:r>
          </a:p>
          <a:p>
            <a:pPr marL="0" indent="0">
              <a:spcBef>
                <a:spcPts val="500"/>
              </a:spcBef>
              <a:spcAft>
                <a:spcPts val="200"/>
              </a:spcAft>
              <a:buNone/>
            </a:pPr>
            <a:r>
              <a:rPr sz="1050" b="1">
                <a:solidFill>
                  <a:srgbClr val="0F254B"/>
                </a:solidFill>
              </a:rPr>
              <a:t>Methodology and process for implementation (Flow Charts/Images/ working prototype)</a:t>
            </a:r>
          </a:p>
          <a:p>
            <a:pPr marL="228600" indent="-152400">
              <a:spcBef>
                <a:spcPts val="100"/>
              </a:spcBef>
              <a:spcAft>
                <a:spcPts val="200"/>
              </a:spcAft>
            </a:pPr>
            <a:r>
              <a:rPr sz="880" b="1">
                <a:solidFill>
                  <a:srgbClr val="0F254B"/>
                </a:solidFill>
              </a:rPr>
              <a:t>• Stage 1 (Multi-Modal Ingestion):</a:t>
            </a:r>
            <a:r>
              <a:rPr sz="880" b="0">
                <a:solidFill>
                  <a:srgbClr val="282828"/>
                </a:solidFill>
              </a:rPr>
              <a:t> Parses GeoTIFFs &amp; benchmark PNGs; verifies CRS, GSD, bands; converts SAR amplitude to calibrated sigma0 (dB).</a:t>
            </a:r>
          </a:p>
          <a:p>
            <a:pPr marL="228600" indent="-152400">
              <a:spcBef>
                <a:spcPts val="100"/>
              </a:spcBef>
              <a:spcAft>
                <a:spcPts val="200"/>
              </a:spcAft>
            </a:pPr>
            <a:r>
              <a:rPr sz="880" b="1">
                <a:solidFill>
                  <a:srgbClr val="0F254B"/>
                </a:solidFill>
              </a:rPr>
              <a:t>• Stage 2 (Agentic Orchestration):</a:t>
            </a:r>
            <a:r>
              <a:rPr sz="880" b="0">
                <a:solidFill>
                  <a:srgbClr val="282828"/>
                </a:solidFill>
              </a:rPr>
              <a:t> AgenticTaskRouter parses natural language, validates spatial co-registration between images, and bounds parameters.</a:t>
            </a:r>
          </a:p>
          <a:p>
            <a:pPr marL="228600" indent="-152400">
              <a:spcBef>
                <a:spcPts val="100"/>
              </a:spcBef>
              <a:spcAft>
                <a:spcPts val="200"/>
              </a:spcAft>
            </a:pPr>
            <a:r>
              <a:rPr sz="880" b="1">
                <a:solidFill>
                  <a:srgbClr val="0F254B"/>
                </a:solidFill>
              </a:rPr>
              <a:t>• Stage 3 (Dynamic Tool Execution):</a:t>
            </a:r>
            <a:r>
              <a:rPr sz="880" b="0">
                <a:solidFill>
                  <a:srgbClr val="282828"/>
                </a:solidFill>
              </a:rPr>
              <a:t> Routes to RS-VQA, SAM-2 Grounding, ChangeFormer CDVQA, or Optical-SAR Fusion with microsecond telemetry.</a:t>
            </a:r>
          </a:p>
          <a:p>
            <a:pPr marL="228600" indent="-152400">
              <a:spcBef>
                <a:spcPts val="100"/>
              </a:spcBef>
              <a:spcAft>
                <a:spcPts val="200"/>
              </a:spcAft>
            </a:pPr>
            <a:r>
              <a:rPr sz="880" b="1">
                <a:solidFill>
                  <a:srgbClr val="0F254B"/>
                </a:solidFill>
              </a:rPr>
              <a:t>• Stage 4 (Deterministic Affine Math):</a:t>
            </a:r>
            <a:r>
              <a:rPr sz="880" b="0">
                <a:solidFill>
                  <a:srgbClr val="282828"/>
                </a:solidFill>
              </a:rPr>
              <a:t> Projects binary masks to Earth coordinates [lon, lat]^T = Affine * [x, y, 1]^T, computing exact area in hectares.</a:t>
            </a:r>
          </a:p>
          <a:p>
            <a:pPr marL="228600" indent="-152400">
              <a:spcBef>
                <a:spcPts val="100"/>
              </a:spcBef>
              <a:spcAft>
                <a:spcPts val="200"/>
              </a:spcAft>
            </a:pPr>
            <a:r>
              <a:rPr sz="880" b="1">
                <a:solidFill>
                  <a:srgbClr val="0F254B"/>
                </a:solidFill>
              </a:rPr>
              <a:t>• Stage 5 (Trace &amp; Dossier Synthesis):</a:t>
            </a:r>
            <a:r>
              <a:rPr sz="880" b="0">
                <a:solidFill>
                  <a:srgbClr val="282828"/>
                </a:solidFill>
              </a:rPr>
              <a:t> Emits observable JSON trace, renders interactive vector overlays, and compiles automated Intelligence Dossier PDFs.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0F254B"/>
                </a:solidFill>
              </a:defRPr>
            </a:pPr>
            <a:r>
              <a:t>SatQuery AI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slide3_pipe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1234440"/>
            <a:ext cx="516636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 sz="2300" b="1">
                <a:solidFill>
                  <a:srgbClr val="0F254B"/>
                </a:solidFill>
              </a:defRPr>
            </a:pPr>
            <a: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02920" y="1234440"/>
            <a:ext cx="5943600" cy="4983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just" defTabSz="457200" rtl="0" eaLnBrk="1" fontAlgn="base" latinLnBrk="0" hangingPunct="1">
              <a:buNone/>
              <a:tabLst/>
              <a:defRPr/>
            </a:pPr>
            <a:r>
              <a:rPr sz="1050" b="1">
                <a:solidFill>
                  <a:srgbClr val="0F254B"/>
                </a:solidFill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228600" indent="-152400">
              <a:spcBef>
                <a:spcPts val="100"/>
              </a:spcBef>
              <a:spcAft>
                <a:spcPts val="200"/>
              </a:spcAft>
            </a:pPr>
            <a:r>
              <a:rPr sz="880" b="1">
                <a:solidFill>
                  <a:srgbClr val="0F254B"/>
                </a:solidFill>
              </a:rPr>
              <a:t>• Working Prototype Validated:</a:t>
            </a:r>
            <a:r>
              <a:rPr sz="880" b="0">
                <a:solidFill>
                  <a:srgbClr val="282828"/>
                </a:solidFill>
              </a:rPr>
              <a:t> 36/36 automated integration tests passing (100% pass rate) on GitHub repo across API, Orchestrator, Affine Engine, and SQLite Registry.</a:t>
            </a:r>
          </a:p>
          <a:p>
            <a:pPr marL="228600" indent="-152400">
              <a:spcBef>
                <a:spcPts val="100"/>
              </a:spcBef>
              <a:spcAft>
                <a:spcPts val="200"/>
              </a:spcAft>
            </a:pPr>
            <a:r>
              <a:rPr sz="880" b="1">
                <a:solidFill>
                  <a:srgbClr val="0F254B"/>
                </a:solidFill>
              </a:rPr>
              <a:t>• Lean Hardware Footprint:</a:t>
            </a:r>
            <a:r>
              <a:rPr sz="880" b="0">
                <a:solidFill>
                  <a:srgbClr val="282828"/>
                </a:solidFill>
              </a:rPr>
              <a:t> Modular specialist backends run within &lt;6GB VRAM (operates smoothly on standard developer laptops and free Google Colab T4 GPUs).</a:t>
            </a:r>
          </a:p>
          <a:p>
            <a:pPr marL="228600" indent="-152400">
              <a:spcBef>
                <a:spcPts val="100"/>
              </a:spcBef>
              <a:spcAft>
                <a:spcPts val="200"/>
              </a:spcAft>
            </a:pPr>
            <a:r>
              <a:rPr sz="880" b="1">
                <a:solidFill>
                  <a:srgbClr val="0F254B"/>
                </a:solidFill>
              </a:rPr>
              <a:t>• Sovereign &amp; Air-Gapped Ready:</a:t>
            </a:r>
            <a:r>
              <a:rPr sz="880" b="0">
                <a:solidFill>
                  <a:srgbClr val="282828"/>
                </a:solidFill>
              </a:rPr>
              <a:t> Operates self-contained without external third-party proprietary APIs (OpenAI/Anthropic); deployable on NIC MeghRaj or Bhuvan Cloud.</a:t>
            </a:r>
          </a:p>
          <a:p>
            <a:pPr marL="0" indent="0">
              <a:spcBef>
                <a:spcPts val="500"/>
              </a:spcBef>
              <a:spcAft>
                <a:spcPts val="200"/>
              </a:spcAft>
              <a:buNone/>
            </a:pPr>
            <a:r>
              <a:rPr sz="1050" b="1">
                <a:solidFill>
                  <a:srgbClr val="0F254B"/>
                </a:solidFill>
              </a:rPr>
              <a:t>Potential challenges and risks</a:t>
            </a:r>
          </a:p>
          <a:p>
            <a:pPr marL="228600" indent="-152400">
              <a:spcBef>
                <a:spcPts val="100"/>
              </a:spcBef>
              <a:spcAft>
                <a:spcPts val="200"/>
              </a:spcAft>
            </a:pPr>
            <a:r>
              <a:rPr sz="880" b="1">
                <a:solidFill>
                  <a:srgbClr val="0F254B"/>
                </a:solidFill>
              </a:rPr>
              <a:t>• Risk 1 (Spatial Misalignment):</a:t>
            </a:r>
            <a:r>
              <a:rPr sz="880" b="0">
                <a:solidFill>
                  <a:srgbClr val="282828"/>
                </a:solidFill>
              </a:rPr>
              <a:t> Geometric distortion or CRS mismatches between multi-temporal passes or different sensor modalities.</a:t>
            </a:r>
          </a:p>
          <a:p>
            <a:pPr marL="228600" indent="-152400">
              <a:spcBef>
                <a:spcPts val="100"/>
              </a:spcBef>
              <a:spcAft>
                <a:spcPts val="200"/>
              </a:spcAft>
            </a:pPr>
            <a:r>
              <a:rPr sz="880" b="1">
                <a:solidFill>
                  <a:srgbClr val="0F254B"/>
                </a:solidFill>
              </a:rPr>
              <a:t>• Risk 2 (SAR Speckle Noise):</a:t>
            </a:r>
            <a:r>
              <a:rPr sz="880" b="0">
                <a:solidFill>
                  <a:srgbClr val="282828"/>
                </a:solidFill>
              </a:rPr>
              <a:t> Coherent radar interference creating false high-frequency edges and spurious change detections.</a:t>
            </a:r>
          </a:p>
          <a:p>
            <a:pPr marL="228600" indent="-152400">
              <a:spcBef>
                <a:spcPts val="100"/>
              </a:spcBef>
              <a:spcAft>
                <a:spcPts val="200"/>
              </a:spcAft>
            </a:pPr>
            <a:r>
              <a:rPr sz="880" b="1">
                <a:solidFill>
                  <a:srgbClr val="0F254B"/>
                </a:solidFill>
              </a:rPr>
              <a:t>• Risk 3 (LLM Coordinate Hallucination):</a:t>
            </a:r>
            <a:r>
              <a:rPr sz="880" b="0">
                <a:solidFill>
                  <a:srgbClr val="282828"/>
                </a:solidFill>
              </a:rPr>
              <a:t> General generative models outputting fictitious geographic coordinates and arbitrary polygon boundaries.</a:t>
            </a:r>
          </a:p>
          <a:p>
            <a:pPr marL="0" indent="0">
              <a:spcBef>
                <a:spcPts val="500"/>
              </a:spcBef>
              <a:spcAft>
                <a:spcPts val="200"/>
              </a:spcAft>
              <a:buNone/>
            </a:pPr>
            <a:r>
              <a:rPr sz="1050" b="1">
                <a:solidFill>
                  <a:srgbClr val="0F254B"/>
                </a:solidFill>
              </a:rPr>
              <a:t>Strategies for overcoming these challenges</a:t>
            </a:r>
          </a:p>
          <a:p>
            <a:pPr marL="228600" indent="-152400">
              <a:spcBef>
                <a:spcPts val="100"/>
              </a:spcBef>
              <a:spcAft>
                <a:spcPts val="200"/>
              </a:spcAft>
            </a:pPr>
            <a:r>
              <a:rPr sz="880" b="1">
                <a:solidFill>
                  <a:srgbClr val="0F254B"/>
                </a:solidFill>
              </a:rPr>
              <a:t>• Strategy 1 (Automated Preprocessing Guardrail):</a:t>
            </a:r>
            <a:r>
              <a:rPr sz="880" b="0">
                <a:solidFill>
                  <a:srgbClr val="282828"/>
                </a:solidFill>
              </a:rPr>
              <a:t> Ingestion pipeline verifies CRS (EPSG:32633, EPSG:4326), bounding box overlap, and spatial resolution prior to tool dispatch.</a:t>
            </a:r>
          </a:p>
          <a:p>
            <a:pPr marL="228600" indent="-152400">
              <a:spcBef>
                <a:spcPts val="100"/>
              </a:spcBef>
              <a:spcAft>
                <a:spcPts val="200"/>
              </a:spcAft>
            </a:pPr>
            <a:r>
              <a:rPr sz="880" b="1">
                <a:solidFill>
                  <a:srgbClr val="0F254B"/>
                </a:solidFill>
              </a:rPr>
              <a:t>• Strategy 2 (Adaptive Lee Speckle Filtering):</a:t>
            </a:r>
            <a:r>
              <a:rPr sz="880" b="0">
                <a:solidFill>
                  <a:srgbClr val="282828"/>
                </a:solidFill>
              </a:rPr>
              <a:t> Applied 5x5 window adaptive Lee filtering on calibrated SAR intensity to eliminate speckle noise while preserving sharp coastlines and urban edges.</a:t>
            </a:r>
          </a:p>
          <a:p>
            <a:pPr marL="228600" indent="-152400">
              <a:spcBef>
                <a:spcPts val="100"/>
              </a:spcBef>
              <a:spcAft>
                <a:spcPts val="200"/>
              </a:spcAft>
            </a:pPr>
            <a:r>
              <a:rPr sz="880" b="1">
                <a:solidFill>
                  <a:srgbClr val="0F254B"/>
                </a:solidFill>
              </a:rPr>
              <a:t>• Strategy 3 (Affine Matrix Coordinate Projection):</a:t>
            </a:r>
            <a:r>
              <a:rPr sz="880" b="0">
                <a:solidFill>
                  <a:srgbClr val="282828"/>
                </a:solidFill>
              </a:rPr>
              <a:t> Hardcoded affine coordinate math directly computes polygon vertices from raster transformations, making coordinate hallucination mathematically impossible.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0F254B"/>
                </a:solidFill>
              </a:defRPr>
            </a:pPr>
            <a:r>
              <a:t>SatQuery AI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slide4_feasibil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1234440"/>
            <a:ext cx="5166360" cy="498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 sz="2300" b="1">
                <a:solidFill>
                  <a:srgbClr val="0F254B"/>
                </a:solidFill>
              </a:defRPr>
            </a:pPr>
            <a: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02920" y="1234440"/>
            <a:ext cx="5943600" cy="4983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just" defTabSz="457200" rtl="0" eaLnBrk="1" fontAlgn="base" latinLnBrk="0" hangingPunct="1">
              <a:buNone/>
              <a:tabLst/>
              <a:defRPr/>
            </a:pPr>
            <a:r>
              <a:rPr sz="1050" b="1">
                <a:solidFill>
                  <a:srgbClr val="0F254B"/>
                </a:solidFill>
              </a:rPr>
              <a:t>Potential impact on the target audience</a:t>
            </a:r>
          </a:p>
          <a:p>
            <a:pPr marL="228600" indent="-152400">
              <a:spcBef>
                <a:spcPts val="100"/>
              </a:spcBef>
              <a:spcAft>
                <a:spcPts val="200"/>
              </a:spcAft>
            </a:pPr>
            <a:r>
              <a:rPr sz="880" b="1">
                <a:solidFill>
                  <a:srgbClr val="0F254B"/>
                </a:solidFill>
              </a:rPr>
              <a:t>• ISRO / SAC &amp; National Disaster Management Authority (NDMA):</a:t>
            </a:r>
            <a:r>
              <a:rPr sz="880" b="0">
                <a:solidFill>
                  <a:srgbClr val="282828"/>
                </a:solidFill>
              </a:rPr>
              <a:t> Instantaneous flood and landslide mapping through dense clouds, cutting damage assessment from days to &lt;3s.</a:t>
            </a:r>
          </a:p>
          <a:p>
            <a:pPr marL="228600" indent="-152400">
              <a:spcBef>
                <a:spcPts val="100"/>
              </a:spcBef>
              <a:spcAft>
                <a:spcPts val="200"/>
              </a:spcAft>
            </a:pPr>
            <a:r>
              <a:rPr sz="880" b="1">
                <a:solidFill>
                  <a:srgbClr val="0F254B"/>
                </a:solidFill>
              </a:rPr>
              <a:t>• Defense &amp; Border Security Organizations:</a:t>
            </a:r>
            <a:r>
              <a:rPr sz="880" b="0">
                <a:solidFill>
                  <a:srgbClr val="282828"/>
                </a:solidFill>
              </a:rPr>
              <a:t> 24/7 all-weather structural change detection and vehicle/runway monitoring along borders without manual GIS registration.</a:t>
            </a:r>
          </a:p>
          <a:p>
            <a:pPr marL="228600" indent="-152400">
              <a:spcBef>
                <a:spcPts val="100"/>
              </a:spcBef>
              <a:spcAft>
                <a:spcPts val="200"/>
              </a:spcAft>
            </a:pPr>
            <a:r>
              <a:rPr sz="880" b="1">
                <a:solidFill>
                  <a:srgbClr val="0F254B"/>
                </a:solidFill>
              </a:rPr>
              <a:t>• District Administration &amp; Field Officers:</a:t>
            </a:r>
            <a:r>
              <a:rPr sz="880" b="0">
                <a:solidFill>
                  <a:srgbClr val="282828"/>
                </a:solidFill>
              </a:rPr>
              <a:t> Conversational natural-language interface enables field commanders to query satellite data without specialized GIS training.</a:t>
            </a:r>
          </a:p>
          <a:p>
            <a:pPr marL="0" indent="0">
              <a:spcBef>
                <a:spcPts val="500"/>
              </a:spcBef>
              <a:spcAft>
                <a:spcPts val="200"/>
              </a:spcAft>
              <a:buNone/>
            </a:pPr>
            <a:r>
              <a:rPr sz="1050" b="1">
                <a:solidFill>
                  <a:srgbClr val="0F254B"/>
                </a:solidFill>
              </a:rPr>
              <a:t>Benefits of the solution (social, economic, environmental, etc.)</a:t>
            </a:r>
          </a:p>
          <a:p>
            <a:pPr marL="228600" indent="-152400">
              <a:spcBef>
                <a:spcPts val="100"/>
              </a:spcBef>
              <a:spcAft>
                <a:spcPts val="200"/>
              </a:spcAft>
            </a:pPr>
            <a:r>
              <a:rPr sz="880" b="1">
                <a:solidFill>
                  <a:srgbClr val="0F254B"/>
                </a:solidFill>
              </a:rPr>
              <a:t>• Social Benefit (Disaster Resilience):</a:t>
            </a:r>
            <a:r>
              <a:rPr sz="880" b="0">
                <a:solidFill>
                  <a:srgbClr val="282828"/>
                </a:solidFill>
              </a:rPr>
              <a:t> Rapid, verified disaster mapping directly saves lives during monsoon floods, cyclones, and cloudburst events by directing first responders to isolated regions.</a:t>
            </a:r>
          </a:p>
          <a:p>
            <a:pPr marL="228600" indent="-152400">
              <a:spcBef>
                <a:spcPts val="100"/>
              </a:spcBef>
              <a:spcAft>
                <a:spcPts val="200"/>
              </a:spcAft>
            </a:pPr>
            <a:r>
              <a:rPr sz="880" b="1">
                <a:solidFill>
                  <a:srgbClr val="0F254B"/>
                </a:solidFill>
              </a:rPr>
              <a:t>• Economic Benefit (Dual-Use Commercial Market):</a:t>
            </a:r>
          </a:p>
          <a:p>
            <a:pPr marL="228600" indent="-152400">
              <a:spcBef>
                <a:spcPts val="100"/>
              </a:spcBef>
              <a:spcAft>
                <a:spcPts val="200"/>
              </a:spcAft>
            </a:pPr>
            <a:r>
              <a:rPr sz="830" b="1">
                <a:solidFill>
                  <a:srgbClr val="0F254B"/>
                </a:solidFill>
              </a:rPr>
              <a:t>   • Agritech &amp; Crop Insurance:</a:t>
            </a:r>
            <a:r>
              <a:rPr sz="830" b="0">
                <a:solidFill>
                  <a:srgbClr val="282828"/>
                </a:solidFill>
              </a:rPr>
              <a:t> Automates crop damage assessment for PMFBY, preventing fraudulent claims and accelerating payouts.</a:t>
            </a:r>
          </a:p>
          <a:p>
            <a:pPr marL="228600" indent="-152400">
              <a:spcBef>
                <a:spcPts val="100"/>
              </a:spcBef>
              <a:spcAft>
                <a:spcPts val="200"/>
              </a:spcAft>
            </a:pPr>
            <a:r>
              <a:rPr sz="830" b="1">
                <a:solidFill>
                  <a:srgbClr val="0F254B"/>
                </a:solidFill>
              </a:rPr>
              <a:t>   • Infrastructure Auditing:</a:t>
            </a:r>
            <a:r>
              <a:rPr sz="830" b="0">
                <a:solidFill>
                  <a:srgbClr val="282828"/>
                </a:solidFill>
              </a:rPr>
              <a:t> Dynamically monitors NHAI highway expansion, urban sprawl, and encroachments.</a:t>
            </a:r>
          </a:p>
          <a:p>
            <a:pPr marL="228600" indent="-152400">
              <a:spcBef>
                <a:spcPts val="100"/>
              </a:spcBef>
              <a:spcAft>
                <a:spcPts val="200"/>
              </a:spcAft>
            </a:pPr>
            <a:r>
              <a:rPr sz="830" b="1">
                <a:solidFill>
                  <a:srgbClr val="0F254B"/>
                </a:solidFill>
              </a:rPr>
              <a:t>   • Cost Reduction:</a:t>
            </a:r>
            <a:r>
              <a:rPr sz="830" b="0">
                <a:solidFill>
                  <a:srgbClr val="282828"/>
                </a:solidFill>
              </a:rPr>
              <a:t> Sovereign open-source stack eliminates expensive commercial GIS desktop licenses ($5,000+/seat).</a:t>
            </a:r>
          </a:p>
          <a:p>
            <a:pPr marL="228600" indent="-152400">
              <a:spcBef>
                <a:spcPts val="100"/>
              </a:spcBef>
              <a:spcAft>
                <a:spcPts val="200"/>
              </a:spcAft>
            </a:pPr>
            <a:r>
              <a:rPr sz="880" b="1">
                <a:solidFill>
                  <a:srgbClr val="0F254B"/>
                </a:solidFill>
              </a:rPr>
              <a:t>• Environmental Benefit:</a:t>
            </a:r>
            <a:r>
              <a:rPr sz="880" b="0">
                <a:solidFill>
                  <a:srgbClr val="282828"/>
                </a:solidFill>
              </a:rPr>
              <a:t> Continuous monitoring of deforestation, reservoir depletion, and wetland conservation through automated NDVI/NDWI indexing and directional change analysis.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0F254B"/>
                </a:solidFill>
              </a:defRPr>
            </a:pPr>
            <a:r>
              <a:t>SatQuery AI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slide5_impa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1234440"/>
            <a:ext cx="5166360" cy="498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 sz="2300" b="1">
                <a:solidFill>
                  <a:srgbClr val="0F254B"/>
                </a:solidFill>
              </a:defRPr>
            </a:pPr>
            <a:r>
              <a:t>RESEARCH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02920" y="1234440"/>
            <a:ext cx="5943600" cy="4983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just" defTabSz="457200" rtl="0" eaLnBrk="1" fontAlgn="base" latinLnBrk="0" hangingPunct="1">
              <a:buNone/>
              <a:tabLst/>
              <a:defRPr/>
            </a:pPr>
            <a:r>
              <a:rPr sz="1050" b="1">
                <a:solidFill>
                  <a:srgbClr val="0F254B"/>
                </a:solidFill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228600" indent="-152400">
              <a:spcBef>
                <a:spcPts val="100"/>
              </a:spcBef>
              <a:spcAft>
                <a:spcPts val="200"/>
              </a:spcAft>
            </a:pPr>
            <a:r>
              <a:rPr sz="880" b="1">
                <a:solidFill>
                  <a:srgbClr val="0F254B"/>
                </a:solidFill>
              </a:rPr>
              <a:t>• Benchmark Datasets &amp; Domain Adaptation:</a:t>
            </a:r>
          </a:p>
          <a:p>
            <a:pPr marL="228600" indent="-152400">
              <a:spcBef>
                <a:spcPts val="100"/>
              </a:spcBef>
              <a:spcAft>
                <a:spcPts val="200"/>
              </a:spcAft>
            </a:pPr>
            <a:r>
              <a:rPr sz="830" b="1">
                <a:solidFill>
                  <a:srgbClr val="0F254B"/>
                </a:solidFill>
              </a:rPr>
              <a:t>   • BigEarthNet-MM:</a:t>
            </a:r>
            <a:r>
              <a:rPr sz="830" b="0">
                <a:solidFill>
                  <a:srgbClr val="282828"/>
                </a:solidFill>
              </a:rPr>
              <a:t> 590,326 Sentinel-1 SAR and Sentinel-2 Multispectral patch pairs used for cross-modal contrastive representation learning.</a:t>
            </a:r>
          </a:p>
          <a:p>
            <a:pPr marL="228600" indent="-152400">
              <a:spcBef>
                <a:spcPts val="100"/>
              </a:spcBef>
              <a:spcAft>
                <a:spcPts val="200"/>
              </a:spcAft>
            </a:pPr>
            <a:r>
              <a:rPr sz="830" b="1">
                <a:solidFill>
                  <a:srgbClr val="0F254B"/>
                </a:solidFill>
              </a:rPr>
              <a:t>   • VRSBench:</a:t>
            </a:r>
            <a:r>
              <a:rPr sz="830" b="0">
                <a:solidFill>
                  <a:srgbClr val="282828"/>
                </a:solidFill>
              </a:rPr>
              <a:t> High-resolution visual grounding, scene captioning, and remote sensing VQA benchmarks.</a:t>
            </a:r>
          </a:p>
          <a:p>
            <a:pPr marL="228600" indent="-152400">
              <a:spcBef>
                <a:spcPts val="100"/>
              </a:spcBef>
              <a:spcAft>
                <a:spcPts val="200"/>
              </a:spcAft>
            </a:pPr>
            <a:r>
              <a:rPr sz="830" b="1">
                <a:solidFill>
                  <a:srgbClr val="0F254B"/>
                </a:solidFill>
              </a:rPr>
              <a:t>   • RSVQA &amp; CDVQA:</a:t>
            </a:r>
            <a:r>
              <a:rPr sz="830" b="0">
                <a:solidFill>
                  <a:srgbClr val="282828"/>
                </a:solidFill>
              </a:rPr>
              <a:t> High/Low resolution VQA and Change Detection Visual Question Answering benchmarks.</a:t>
            </a:r>
          </a:p>
          <a:p>
            <a:pPr marL="228600" indent="-152400">
              <a:spcBef>
                <a:spcPts val="100"/>
              </a:spcBef>
              <a:spcAft>
                <a:spcPts val="200"/>
              </a:spcAft>
            </a:pPr>
            <a:r>
              <a:rPr sz="830" b="1">
                <a:solidFill>
                  <a:srgbClr val="0F254B"/>
                </a:solidFill>
              </a:rPr>
              <a:t>   • ISRO Sensor Calibration:</a:t>
            </a:r>
            <a:r>
              <a:rPr sz="830" b="0">
                <a:solidFill>
                  <a:srgbClr val="282828"/>
                </a:solidFill>
              </a:rPr>
              <a:t> Cartosat-2S (0.65m GSD pan-sharpened optical) &amp; RISAT-1A / EOS-04 (C-band SAR backscatter calibration).</a:t>
            </a:r>
          </a:p>
          <a:p>
            <a:pPr marL="228600" indent="-152400">
              <a:spcBef>
                <a:spcPts val="100"/>
              </a:spcBef>
              <a:spcAft>
                <a:spcPts val="200"/>
              </a:spcAft>
            </a:pPr>
            <a:r>
              <a:rPr sz="880" b="1">
                <a:solidFill>
                  <a:srgbClr val="0F254B"/>
                </a:solidFill>
              </a:rPr>
              <a:t>• Foundational Literature &amp; Model Backbones:</a:t>
            </a:r>
          </a:p>
          <a:p>
            <a:pPr marL="228600" indent="-152400">
              <a:spcBef>
                <a:spcPts val="100"/>
              </a:spcBef>
              <a:spcAft>
                <a:spcPts val="200"/>
              </a:spcAft>
            </a:pPr>
            <a:r>
              <a:rPr sz="830" b="1">
                <a:solidFill>
                  <a:srgbClr val="0F254B"/>
                </a:solidFill>
              </a:rPr>
              <a:t>   • Segment Anything Model 2 (SAM-2):</a:t>
            </a:r>
            <a:r>
              <a:rPr sz="830" b="0">
                <a:solidFill>
                  <a:srgbClr val="282828"/>
                </a:solidFill>
              </a:rPr>
              <a:t> Kirillov et al., Meta AI (2024) - Zero-shot promptable mask delineation.</a:t>
            </a:r>
          </a:p>
          <a:p>
            <a:pPr marL="228600" indent="-152400">
              <a:spcBef>
                <a:spcPts val="100"/>
              </a:spcBef>
              <a:spcAft>
                <a:spcPts val="200"/>
              </a:spcAft>
            </a:pPr>
            <a:r>
              <a:rPr sz="830" b="1">
                <a:solidFill>
                  <a:srgbClr val="0F254B"/>
                </a:solidFill>
              </a:rPr>
              <a:t>   • ChangeFormer-V2:</a:t>
            </a:r>
            <a:r>
              <a:rPr sz="830" b="0">
                <a:solidFill>
                  <a:srgbClr val="282828"/>
                </a:solidFill>
              </a:rPr>
              <a:t> Bandara &amp; Patel (2022) - Bitemporal Transformer for remote sensing change detection.</a:t>
            </a:r>
          </a:p>
          <a:p>
            <a:pPr marL="228600" indent="-152400">
              <a:spcBef>
                <a:spcPts val="100"/>
              </a:spcBef>
              <a:spcAft>
                <a:spcPts val="200"/>
              </a:spcAft>
            </a:pPr>
            <a:r>
              <a:rPr sz="830" b="1">
                <a:solidFill>
                  <a:srgbClr val="0F254B"/>
                </a:solidFill>
              </a:rPr>
              <a:t>   • Qwen2-VL:</a:t>
            </a:r>
            <a:r>
              <a:rPr sz="830" b="0">
                <a:solidFill>
                  <a:srgbClr val="282828"/>
                </a:solidFill>
              </a:rPr>
              <a:t> Wang et al., Alibaba Cloud (2024) - Vision-Language model with dynamic resolution processing.</a:t>
            </a:r>
          </a:p>
          <a:p>
            <a:pPr marL="228600" indent="-152400">
              <a:spcBef>
                <a:spcPts val="100"/>
              </a:spcBef>
              <a:spcAft>
                <a:spcPts val="200"/>
              </a:spcAft>
            </a:pPr>
            <a:r>
              <a:rPr sz="880" b="1">
                <a:solidFill>
                  <a:srgbClr val="0F254B"/>
                </a:solidFill>
              </a:rPr>
              <a:t>• Project Repository &amp; Verified Codebase:</a:t>
            </a:r>
          </a:p>
          <a:p>
            <a:pPr marL="228600" indent="-152400">
              <a:spcBef>
                <a:spcPts val="100"/>
              </a:spcBef>
              <a:spcAft>
                <a:spcPts val="200"/>
              </a:spcAft>
            </a:pPr>
            <a:r>
              <a:rPr sz="830" b="1">
                <a:solidFill>
                  <a:srgbClr val="0F254B"/>
                </a:solidFill>
              </a:rPr>
              <a:t>   • GitHub Repository:</a:t>
            </a:r>
            <a:r>
              <a:rPr sz="830" b="0">
                <a:solidFill>
                  <a:srgbClr val="282828"/>
                </a:solidFill>
              </a:rPr>
              <a:t> https://github.com/Shourya3113/SatQuery-AI-SIH-26</a:t>
            </a:r>
          </a:p>
          <a:p>
            <a:pPr marL="228600" indent="-152400">
              <a:spcBef>
                <a:spcPts val="100"/>
              </a:spcBef>
              <a:spcAft>
                <a:spcPts val="200"/>
              </a:spcAft>
            </a:pPr>
            <a:r>
              <a:rPr sz="830" b="1">
                <a:solidFill>
                  <a:srgbClr val="0F254B"/>
                </a:solidFill>
              </a:rPr>
              <a:t>   • Test Suite:</a:t>
            </a:r>
            <a:r>
              <a:rPr sz="830" b="0">
                <a:solidFill>
                  <a:srgbClr val="282828"/>
                </a:solidFill>
              </a:rPr>
              <a:t> 36/36 automated integration tests passing across REST API, Orchestrator, Affine Engine, and SQLite Registry.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0F254B"/>
                </a:solidFill>
              </a:defRPr>
            </a:pPr>
            <a:r>
              <a:t>SatQuery AI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slide6_re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1234440"/>
            <a:ext cx="5166360" cy="498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1372</Words>
  <Application>Microsoft Office PowerPoint</Application>
  <PresentationFormat>Widescreen</PresentationFormat>
  <Paragraphs>95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IDEA TITLE: SatQuery AI</vt:lpstr>
      <vt:lpstr>TECHNICAL APPROACH</vt:lpstr>
      <vt:lpstr>FEASIBILITY AND VIABILITY</vt:lpstr>
      <vt:lpstr>IMPACT AND BENEFITS</vt:lpstr>
      <vt:lpstr>RESEARCH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Vinayak Garg</cp:lastModifiedBy>
  <cp:revision>148</cp:revision>
  <dcterms:created xsi:type="dcterms:W3CDTF">2013-12-12T18:46:50Z</dcterms:created>
  <dcterms:modified xsi:type="dcterms:W3CDTF">2026-09-06T17:36:23Z</dcterms:modified>
  <cp:category/>
</cp:coreProperties>
</file>